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Staatliches" charset="1" panose="00000000000000000000"/>
      <p:regular r:id="rId20"/>
    </p:embeddedFont>
    <p:embeddedFont>
      <p:font typeface="Agrandir Bold" charset="1" panose="00000800000000000000"/>
      <p:regular r:id="rId21"/>
    </p:embeddedFont>
    <p:embeddedFont>
      <p:font typeface="Agrandir" charset="1" panose="000005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1.pn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2.pn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3.pn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4.pn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7.pn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8.pn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9.pn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pn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75341" y="983652"/>
            <a:ext cx="820459" cy="712543"/>
          </a:xfrm>
          <a:custGeom>
            <a:avLst/>
            <a:gdLst/>
            <a:ahLst/>
            <a:cxnLst/>
            <a:rect r="r" b="b" t="t" l="l"/>
            <a:pathLst>
              <a:path h="712543" w="820459">
                <a:moveTo>
                  <a:pt x="0" y="0"/>
                </a:moveTo>
                <a:lnTo>
                  <a:pt x="820458" y="0"/>
                </a:lnTo>
                <a:lnTo>
                  <a:pt x="820458" y="712543"/>
                </a:lnTo>
                <a:lnTo>
                  <a:pt x="0" y="7125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385741" y="1920949"/>
            <a:ext cx="13629483" cy="4178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726"/>
              </a:lnSpc>
            </a:pPr>
            <a:r>
              <a:rPr lang="en-US" sz="18287" spc="-1005">
                <a:solidFill>
                  <a:srgbClr val="96B7C8"/>
                </a:solidFill>
                <a:latin typeface="Staatliches"/>
                <a:ea typeface="Staatliches"/>
                <a:cs typeface="Staatliches"/>
                <a:sym typeface="Staatliches"/>
              </a:rPr>
              <a:t>BIBLIOTECA ESCOLAR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190441" y="5859064"/>
            <a:ext cx="11521228" cy="1852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36"/>
              </a:lnSpc>
            </a:pPr>
            <a:r>
              <a:rPr lang="en-US" sz="8065" spc="-443">
                <a:solidFill>
                  <a:srgbClr val="342D47"/>
                </a:solidFill>
                <a:latin typeface="Staatliches"/>
                <a:ea typeface="Staatliches"/>
                <a:cs typeface="Staatliches"/>
                <a:sym typeface="Staatliches"/>
              </a:rPr>
              <a:t>PLATAFORMA DIGITAL PARA BIBLIOTECAS ESCOLARES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97607" y="1047750"/>
            <a:ext cx="1927686" cy="394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99"/>
              </a:lnSpc>
            </a:pPr>
            <a:r>
              <a:rPr lang="en-US" b="true" sz="1626" spc="-89">
                <a:solidFill>
                  <a:srgbClr val="342D47"/>
                </a:solidFill>
                <a:latin typeface="Agrandir Bold"/>
                <a:ea typeface="Agrandir Bold"/>
                <a:cs typeface="Agrandir Bold"/>
                <a:sym typeface="Agrandir Bold"/>
              </a:rPr>
              <a:t>BIBLIOTECA ESCOLAR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8879714"/>
            <a:ext cx="2714082" cy="377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76"/>
              </a:lnSpc>
            </a:pPr>
            <a:r>
              <a:rPr lang="en-US" sz="1251">
                <a:solidFill>
                  <a:srgbClr val="342D47"/>
                </a:solidFill>
                <a:latin typeface="Agrandir"/>
                <a:ea typeface="Agrandir"/>
                <a:cs typeface="Agrandir"/>
                <a:sym typeface="Agrandir"/>
              </a:rPr>
              <a:t>SOLUCIÓN MODERNA Y ADMINISTRABLE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193919" y="8879714"/>
            <a:ext cx="6538761" cy="206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76"/>
              </a:lnSpc>
            </a:pPr>
            <a:r>
              <a:rPr lang="en-US" sz="1251">
                <a:solidFill>
                  <a:srgbClr val="342D47"/>
                </a:solidFill>
                <a:latin typeface="Agrandir"/>
                <a:ea typeface="Agrandir"/>
                <a:cs typeface="Agrandir"/>
                <a:sym typeface="Agrandir"/>
              </a:rPr>
              <a:t>PARA INSTITUCIONES EDUCATIVAS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664985" y="8879714"/>
            <a:ext cx="3594315" cy="206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377"/>
              </a:lnSpc>
            </a:pPr>
            <a:r>
              <a:rPr lang="en-US" sz="1252">
                <a:solidFill>
                  <a:srgbClr val="342D47"/>
                </a:solidFill>
                <a:latin typeface="Agrandir"/>
                <a:ea typeface="Agrandir"/>
                <a:cs typeface="Agrandir"/>
                <a:sym typeface="Agrandir"/>
              </a:rPr>
              <a:t>JUL</a:t>
            </a:r>
            <a:r>
              <a:rPr lang="en-US" sz="1252">
                <a:solidFill>
                  <a:srgbClr val="342D47"/>
                </a:solidFill>
                <a:latin typeface="Agrandir"/>
                <a:ea typeface="Agrandir"/>
                <a:cs typeface="Agrandir"/>
                <a:sym typeface="Agrandir"/>
              </a:rPr>
              <a:t>IANDAVIDGUARDIOLASUIARES@GMAIL.COM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664985" y="1009650"/>
            <a:ext cx="3594315" cy="206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376"/>
              </a:lnSpc>
            </a:pPr>
            <a:r>
              <a:rPr lang="en-US" sz="1251">
                <a:solidFill>
                  <a:srgbClr val="342D47"/>
                </a:solidFill>
                <a:latin typeface="Agrandir"/>
                <a:ea typeface="Agrandir"/>
                <a:cs typeface="Agrandir"/>
                <a:sym typeface="Agrandir"/>
              </a:rPr>
              <a:t>21 DE JULIO DE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925676" y="0"/>
            <a:ext cx="8362324" cy="10287000"/>
            <a:chOff x="0" y="0"/>
            <a:chExt cx="11149765" cy="13716000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0" t="24" r="0" b="24"/>
            <a:stretch>
              <a:fillRect/>
            </a:stretch>
          </p:blipFill>
          <p:spPr>
            <a:xfrm flipH="false" flipV="false">
              <a:off x="0" y="0"/>
              <a:ext cx="11149765" cy="13716000"/>
            </a:xfrm>
            <a:prstGeom prst="rect">
              <a:avLst/>
            </a:prstGeom>
          </p:spPr>
        </p:pic>
      </p:grpSp>
      <p:sp>
        <p:nvSpPr>
          <p:cNvPr name="TextBox 5" id="5"/>
          <p:cNvSpPr txBox="true"/>
          <p:nvPr/>
        </p:nvSpPr>
        <p:spPr>
          <a:xfrm rot="0">
            <a:off x="2105855" y="3224709"/>
            <a:ext cx="7323234" cy="3847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4446"/>
              </a:lnSpc>
            </a:pPr>
            <a:r>
              <a:rPr lang="en-US" sz="16798" spc="-923">
                <a:solidFill>
                  <a:srgbClr val="342D47"/>
                </a:solidFill>
                <a:latin typeface="Staatliches"/>
                <a:ea typeface="Staatliches"/>
                <a:cs typeface="Staatliches"/>
                <a:sym typeface="Staatliches"/>
              </a:rPr>
              <a:t>RESUMEN</a:t>
            </a:r>
          </a:p>
          <a:p>
            <a:pPr algn="r" marL="0" indent="0" lvl="0">
              <a:lnSpc>
                <a:spcPts val="14446"/>
              </a:lnSpc>
            </a:pPr>
            <a:r>
              <a:rPr lang="en-US" sz="16798" spc="-923">
                <a:solidFill>
                  <a:srgbClr val="342D47"/>
                </a:solidFill>
                <a:latin typeface="Staatliches"/>
                <a:ea typeface="Staatliches"/>
                <a:cs typeface="Staatliches"/>
                <a:sym typeface="Staatliches"/>
              </a:rPr>
              <a:t>EJECUTIVO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832423" y="3834853"/>
            <a:ext cx="1819438" cy="1819438"/>
          </a:xfrm>
          <a:custGeom>
            <a:avLst/>
            <a:gdLst/>
            <a:ahLst/>
            <a:cxnLst/>
            <a:rect r="r" b="b" t="t" l="l"/>
            <a:pathLst>
              <a:path h="1819438" w="1819438">
                <a:moveTo>
                  <a:pt x="0" y="0"/>
                </a:moveTo>
                <a:lnTo>
                  <a:pt x="1819439" y="0"/>
                </a:lnTo>
                <a:lnTo>
                  <a:pt x="1819439" y="1819439"/>
                </a:lnTo>
                <a:lnTo>
                  <a:pt x="0" y="18194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6949482" y="2976194"/>
            <a:ext cx="10287000" cy="4334612"/>
          </a:xfrm>
          <a:custGeom>
            <a:avLst/>
            <a:gdLst/>
            <a:ahLst/>
            <a:cxnLst/>
            <a:rect r="r" b="b" t="t" l="l"/>
            <a:pathLst>
              <a:path h="4334612" w="10287000">
                <a:moveTo>
                  <a:pt x="0" y="0"/>
                </a:moveTo>
                <a:lnTo>
                  <a:pt x="10287000" y="0"/>
                </a:lnTo>
                <a:lnTo>
                  <a:pt x="10287000" y="4334612"/>
                </a:lnTo>
                <a:lnTo>
                  <a:pt x="0" y="43346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-18661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549685" y="7205993"/>
            <a:ext cx="3594315" cy="360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307"/>
              </a:lnSpc>
            </a:pPr>
            <a:r>
              <a:rPr lang="en-US" b="true" sz="2097">
                <a:solidFill>
                  <a:srgbClr val="342D47"/>
                </a:solidFill>
                <a:latin typeface="Agrandir Bold"/>
                <a:ea typeface="Agrandir Bold"/>
                <a:cs typeface="Agrandir Bold"/>
                <a:sym typeface="Agrandir Bold"/>
              </a:rPr>
              <a:t>VISIÓN GENERAL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7718427"/>
            <a:ext cx="8115300" cy="1289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981"/>
              </a:lnSpc>
            </a:pPr>
            <a:r>
              <a:rPr lang="en-US" sz="1801">
                <a:solidFill>
                  <a:srgbClr val="342D47"/>
                </a:solidFill>
                <a:latin typeface="Agrandir"/>
                <a:ea typeface="Agrandir"/>
                <a:cs typeface="Agrandir"/>
                <a:sym typeface="Agrandir"/>
              </a:rPr>
              <a:t>Plataforma web que organiza enlaces, libros y recursos digitales en un portal visual y fácil de administrar. Navegación por grados (1º a 11º), materias y categorías. Panel administrativo con roles diferenciados para personal autorizado. Su comunidad educativa tendrá una biblioteca digital propia, accesible desde cualquier dispositivo, con control institucional total.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97607" y="1028700"/>
            <a:ext cx="1927686" cy="572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14"/>
              </a:lnSpc>
            </a:pPr>
            <a:r>
              <a:rPr lang="en-US" b="true" sz="2226" spc="-122">
                <a:solidFill>
                  <a:srgbClr val="342D47"/>
                </a:solidFill>
                <a:latin typeface="Agrandir Bold"/>
                <a:ea typeface="Agrandir Bold"/>
                <a:cs typeface="Agrandir Bold"/>
                <a:sym typeface="Agrandir Bold"/>
              </a:rPr>
              <a:t>BIBLIOTECA ESCOLAR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881918" y="618775"/>
            <a:ext cx="987259" cy="982322"/>
          </a:xfrm>
          <a:custGeom>
            <a:avLst/>
            <a:gdLst/>
            <a:ahLst/>
            <a:cxnLst/>
            <a:rect r="r" b="b" t="t" l="l"/>
            <a:pathLst>
              <a:path h="982322" w="987259">
                <a:moveTo>
                  <a:pt x="0" y="0"/>
                </a:moveTo>
                <a:lnTo>
                  <a:pt x="987258" y="0"/>
                </a:lnTo>
                <a:lnTo>
                  <a:pt x="987258" y="982322"/>
                </a:lnTo>
                <a:lnTo>
                  <a:pt x="0" y="9823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417578" y="1382882"/>
            <a:ext cx="9389102" cy="3421430"/>
            <a:chOff x="0" y="0"/>
            <a:chExt cx="12518803" cy="4561906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0" t="421" r="0" b="421"/>
            <a:stretch>
              <a:fillRect/>
            </a:stretch>
          </p:blipFill>
          <p:spPr>
            <a:xfrm flipH="false" flipV="false">
              <a:off x="0" y="0"/>
              <a:ext cx="12518803" cy="4561906"/>
            </a:xfrm>
            <a:prstGeom prst="rect">
              <a:avLst/>
            </a:prstGeom>
          </p:spPr>
        </p:pic>
      </p:grpSp>
      <p:grpSp>
        <p:nvGrpSpPr>
          <p:cNvPr name="Group 5" id="5"/>
          <p:cNvGrpSpPr/>
          <p:nvPr/>
        </p:nvGrpSpPr>
        <p:grpSpPr>
          <a:xfrm rot="0">
            <a:off x="1028700" y="5574897"/>
            <a:ext cx="5089239" cy="3683403"/>
            <a:chOff x="0" y="0"/>
            <a:chExt cx="1340376" cy="9701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40376" cy="970115"/>
            </a:xfrm>
            <a:custGeom>
              <a:avLst/>
              <a:gdLst/>
              <a:ahLst/>
              <a:cxnLst/>
              <a:rect r="r" b="b" t="t" l="l"/>
              <a:pathLst>
                <a:path h="970115" w="1340376">
                  <a:moveTo>
                    <a:pt x="41073" y="0"/>
                  </a:moveTo>
                  <a:lnTo>
                    <a:pt x="1299302" y="0"/>
                  </a:lnTo>
                  <a:cubicBezTo>
                    <a:pt x="1321987" y="0"/>
                    <a:pt x="1340376" y="18389"/>
                    <a:pt x="1340376" y="41073"/>
                  </a:cubicBezTo>
                  <a:lnTo>
                    <a:pt x="1340376" y="929041"/>
                  </a:lnTo>
                  <a:cubicBezTo>
                    <a:pt x="1340376" y="951725"/>
                    <a:pt x="1321987" y="970115"/>
                    <a:pt x="1299302" y="970115"/>
                  </a:cubicBezTo>
                  <a:lnTo>
                    <a:pt x="41073" y="970115"/>
                  </a:lnTo>
                  <a:cubicBezTo>
                    <a:pt x="18389" y="970115"/>
                    <a:pt x="0" y="951725"/>
                    <a:pt x="0" y="929041"/>
                  </a:cubicBezTo>
                  <a:lnTo>
                    <a:pt x="0" y="41073"/>
                  </a:lnTo>
                  <a:cubicBezTo>
                    <a:pt x="0" y="18389"/>
                    <a:pt x="18389" y="0"/>
                    <a:pt x="41073" y="0"/>
                  </a:cubicBezTo>
                  <a:close/>
                </a:path>
              </a:pathLst>
            </a:custGeom>
            <a:solidFill>
              <a:srgbClr val="342D4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340376" cy="10177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0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599380" y="5574897"/>
            <a:ext cx="5089239" cy="3683403"/>
            <a:chOff x="0" y="0"/>
            <a:chExt cx="1340376" cy="97011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40376" cy="970115"/>
            </a:xfrm>
            <a:custGeom>
              <a:avLst/>
              <a:gdLst/>
              <a:ahLst/>
              <a:cxnLst/>
              <a:rect r="r" b="b" t="t" l="l"/>
              <a:pathLst>
                <a:path h="970115" w="1340376">
                  <a:moveTo>
                    <a:pt x="41073" y="0"/>
                  </a:moveTo>
                  <a:lnTo>
                    <a:pt x="1299302" y="0"/>
                  </a:lnTo>
                  <a:cubicBezTo>
                    <a:pt x="1321987" y="0"/>
                    <a:pt x="1340376" y="18389"/>
                    <a:pt x="1340376" y="41073"/>
                  </a:cubicBezTo>
                  <a:lnTo>
                    <a:pt x="1340376" y="929041"/>
                  </a:lnTo>
                  <a:cubicBezTo>
                    <a:pt x="1340376" y="951725"/>
                    <a:pt x="1321987" y="970115"/>
                    <a:pt x="1299302" y="970115"/>
                  </a:cubicBezTo>
                  <a:lnTo>
                    <a:pt x="41073" y="970115"/>
                  </a:lnTo>
                  <a:cubicBezTo>
                    <a:pt x="18389" y="970115"/>
                    <a:pt x="0" y="951725"/>
                    <a:pt x="0" y="929041"/>
                  </a:cubicBezTo>
                  <a:lnTo>
                    <a:pt x="0" y="41073"/>
                  </a:lnTo>
                  <a:cubicBezTo>
                    <a:pt x="0" y="18389"/>
                    <a:pt x="18389" y="0"/>
                    <a:pt x="41073" y="0"/>
                  </a:cubicBezTo>
                  <a:close/>
                </a:path>
              </a:pathLst>
            </a:custGeom>
            <a:solidFill>
              <a:srgbClr val="96B7C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340376" cy="10177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0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8700" y="3005634"/>
            <a:ext cx="7323234" cy="2212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2"/>
              </a:lnSpc>
            </a:pPr>
            <a:r>
              <a:rPr lang="en-US" sz="9759" spc="-536">
                <a:solidFill>
                  <a:srgbClr val="342D47"/>
                </a:solidFill>
                <a:latin typeface="Staatliches"/>
                <a:ea typeface="Staatliches"/>
                <a:cs typeface="Staatliches"/>
                <a:sym typeface="Staatliches"/>
              </a:rPr>
              <a:t>QUÉ COMPRA LA INSTITUCIÓN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2170061" y="5574897"/>
            <a:ext cx="5089239" cy="3683403"/>
            <a:chOff x="0" y="0"/>
            <a:chExt cx="1340376" cy="97011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40376" cy="970115"/>
            </a:xfrm>
            <a:custGeom>
              <a:avLst/>
              <a:gdLst/>
              <a:ahLst/>
              <a:cxnLst/>
              <a:rect r="r" b="b" t="t" l="l"/>
              <a:pathLst>
                <a:path h="970115" w="1340376">
                  <a:moveTo>
                    <a:pt x="41073" y="0"/>
                  </a:moveTo>
                  <a:lnTo>
                    <a:pt x="1299302" y="0"/>
                  </a:lnTo>
                  <a:cubicBezTo>
                    <a:pt x="1321987" y="0"/>
                    <a:pt x="1340376" y="18389"/>
                    <a:pt x="1340376" y="41073"/>
                  </a:cubicBezTo>
                  <a:lnTo>
                    <a:pt x="1340376" y="929041"/>
                  </a:lnTo>
                  <a:cubicBezTo>
                    <a:pt x="1340376" y="951725"/>
                    <a:pt x="1321987" y="970115"/>
                    <a:pt x="1299302" y="970115"/>
                  </a:cubicBezTo>
                  <a:lnTo>
                    <a:pt x="41073" y="970115"/>
                  </a:lnTo>
                  <a:cubicBezTo>
                    <a:pt x="18389" y="970115"/>
                    <a:pt x="0" y="951725"/>
                    <a:pt x="0" y="929041"/>
                  </a:cubicBezTo>
                  <a:lnTo>
                    <a:pt x="0" y="41073"/>
                  </a:lnTo>
                  <a:cubicBezTo>
                    <a:pt x="0" y="18389"/>
                    <a:pt x="18389" y="0"/>
                    <a:pt x="41073" y="0"/>
                  </a:cubicBezTo>
                  <a:close/>
                </a:path>
              </a:pathLst>
            </a:custGeom>
            <a:solidFill>
              <a:srgbClr val="342D47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340376" cy="10177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0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7516359" y="7196573"/>
            <a:ext cx="3255282" cy="1047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46"/>
              </a:lnSpc>
            </a:pPr>
            <a:r>
              <a:rPr lang="en-US" sz="1496">
                <a:solidFill>
                  <a:srgbClr val="342D47"/>
                </a:solidFill>
                <a:latin typeface="Agrandir"/>
                <a:ea typeface="Agrandir"/>
                <a:cs typeface="Agrandir"/>
                <a:sym typeface="Agrandir"/>
              </a:rPr>
              <a:t>Configuración inicial de estructura académica, carga de recursos digitales y capacitación completa para el personal autorizado de la institución.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516359" y="6318374"/>
            <a:ext cx="3255282" cy="288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20"/>
              </a:lnSpc>
            </a:pPr>
            <a:r>
              <a:rPr lang="en-US" b="true" sz="1746">
                <a:solidFill>
                  <a:srgbClr val="342D47"/>
                </a:solidFill>
                <a:latin typeface="Agrandir Bold"/>
                <a:ea typeface="Agrandir Bold"/>
                <a:cs typeface="Agrandir Bold"/>
                <a:sym typeface="Agrandir Bold"/>
              </a:rPr>
              <a:t>Configuración y Capacitación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945678" y="7196573"/>
            <a:ext cx="3255282" cy="1047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46"/>
              </a:lnSpc>
            </a:pPr>
            <a:r>
              <a:rPr lang="en-US" sz="1496">
                <a:solidFill>
                  <a:srgbClr val="F5F7F8"/>
                </a:solidFill>
                <a:latin typeface="Agrandir"/>
                <a:ea typeface="Agrandir"/>
                <a:cs typeface="Agrandir"/>
                <a:sym typeface="Agrandir"/>
              </a:rPr>
              <a:t>Interfaz pública sin login para consulta libre, panel de gestión administrativo, personalización visual con logo, colores e identidad institucional.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945678" y="6318374"/>
            <a:ext cx="3255282" cy="288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20"/>
              </a:lnSpc>
            </a:pPr>
            <a:r>
              <a:rPr lang="en-US" b="true" sz="1746">
                <a:solidFill>
                  <a:srgbClr val="F5F7F8"/>
                </a:solidFill>
                <a:latin typeface="Agrandir Bold"/>
                <a:ea typeface="Agrandir Bold"/>
                <a:cs typeface="Agrandir Bold"/>
                <a:sym typeface="Agrandir Bold"/>
              </a:rPr>
              <a:t>Aplicación Web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087039" y="7196573"/>
            <a:ext cx="3255282" cy="1047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46"/>
              </a:lnSpc>
            </a:pPr>
            <a:r>
              <a:rPr lang="en-US" sz="1496">
                <a:solidFill>
                  <a:srgbClr val="F5F7F8"/>
                </a:solidFill>
                <a:latin typeface="Agrandir"/>
                <a:ea typeface="Agrandir"/>
                <a:cs typeface="Agrandir"/>
                <a:sym typeface="Agrandir"/>
              </a:rPr>
              <a:t>Despliegue en dominio institucional propio, soporte técnico de arranque y acompañamiento continuo para garantizar el éxito de la plataforma.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087039" y="6318374"/>
            <a:ext cx="3255282" cy="288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20"/>
              </a:lnSpc>
            </a:pPr>
            <a:r>
              <a:rPr lang="en-US" b="true" sz="1746">
                <a:solidFill>
                  <a:srgbClr val="F5F7F8"/>
                </a:solidFill>
                <a:latin typeface="Agrandir Bold"/>
                <a:ea typeface="Agrandir Bold"/>
                <a:cs typeface="Agrandir Bold"/>
                <a:sym typeface="Agrandir Bold"/>
              </a:rPr>
              <a:t>Despliegue y Soporte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997607" y="1028700"/>
            <a:ext cx="1927686" cy="572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14"/>
              </a:lnSpc>
            </a:pPr>
            <a:r>
              <a:rPr lang="en-US" b="true" sz="2226" spc="-122">
                <a:solidFill>
                  <a:srgbClr val="342D47"/>
                </a:solidFill>
                <a:latin typeface="Agrandir Bold"/>
                <a:ea typeface="Agrandir Bold"/>
                <a:cs typeface="Agrandir Bold"/>
                <a:sym typeface="Agrandir Bold"/>
              </a:rPr>
              <a:t>BIBLIOTECA ESCOLAR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881918" y="618775"/>
            <a:ext cx="987259" cy="982322"/>
          </a:xfrm>
          <a:custGeom>
            <a:avLst/>
            <a:gdLst/>
            <a:ahLst/>
            <a:cxnLst/>
            <a:rect r="r" b="b" t="t" l="l"/>
            <a:pathLst>
              <a:path h="982322" w="987259">
                <a:moveTo>
                  <a:pt x="0" y="0"/>
                </a:moveTo>
                <a:lnTo>
                  <a:pt x="987258" y="0"/>
                </a:lnTo>
                <a:lnTo>
                  <a:pt x="987258" y="982322"/>
                </a:lnTo>
                <a:lnTo>
                  <a:pt x="0" y="9823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093644"/>
            <a:ext cx="10659920" cy="1872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449"/>
              </a:lnSpc>
            </a:pPr>
            <a:r>
              <a:rPr lang="en-US" sz="15638" spc="-860">
                <a:solidFill>
                  <a:srgbClr val="342D47"/>
                </a:solidFill>
                <a:latin typeface="Staatliches"/>
                <a:ea typeface="Staatliches"/>
                <a:cs typeface="Staatliches"/>
                <a:sym typeface="Staatliches"/>
              </a:rPr>
              <a:t>FUNCIONALIDADES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5430967"/>
            <a:ext cx="8371809" cy="635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71"/>
              </a:lnSpc>
            </a:pPr>
            <a:r>
              <a:rPr lang="en-US" sz="2064">
                <a:solidFill>
                  <a:srgbClr val="342D47"/>
                </a:solidFill>
                <a:latin typeface="Agrandir"/>
                <a:ea typeface="Agrandir"/>
                <a:cs typeface="Agrandir"/>
                <a:sym typeface="Agrandir"/>
              </a:rPr>
              <a:t>Características principales de la plataforma digital diseñada para facilitar el acceso a recursos educativos desde cualquier dispositivo.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8700" y="6916637"/>
            <a:ext cx="5089239" cy="2341663"/>
            <a:chOff x="0" y="0"/>
            <a:chExt cx="1340376" cy="61673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40376" cy="616734"/>
            </a:xfrm>
            <a:custGeom>
              <a:avLst/>
              <a:gdLst/>
              <a:ahLst/>
              <a:cxnLst/>
              <a:rect r="r" b="b" t="t" l="l"/>
              <a:pathLst>
                <a:path h="616734" w="1340376">
                  <a:moveTo>
                    <a:pt x="41073" y="0"/>
                  </a:moveTo>
                  <a:lnTo>
                    <a:pt x="1299302" y="0"/>
                  </a:lnTo>
                  <a:cubicBezTo>
                    <a:pt x="1321987" y="0"/>
                    <a:pt x="1340376" y="18389"/>
                    <a:pt x="1340376" y="41073"/>
                  </a:cubicBezTo>
                  <a:lnTo>
                    <a:pt x="1340376" y="575661"/>
                  </a:lnTo>
                  <a:cubicBezTo>
                    <a:pt x="1340376" y="598345"/>
                    <a:pt x="1321987" y="616734"/>
                    <a:pt x="1299302" y="616734"/>
                  </a:cubicBezTo>
                  <a:lnTo>
                    <a:pt x="41073" y="616734"/>
                  </a:lnTo>
                  <a:cubicBezTo>
                    <a:pt x="18389" y="616734"/>
                    <a:pt x="0" y="598345"/>
                    <a:pt x="0" y="575661"/>
                  </a:cubicBezTo>
                  <a:lnTo>
                    <a:pt x="0" y="41073"/>
                  </a:lnTo>
                  <a:cubicBezTo>
                    <a:pt x="0" y="18389"/>
                    <a:pt x="18389" y="0"/>
                    <a:pt x="41073" y="0"/>
                  </a:cubicBezTo>
                  <a:close/>
                </a:path>
              </a:pathLst>
            </a:custGeom>
            <a:solidFill>
              <a:srgbClr val="342D4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340376" cy="6643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0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599380" y="6916637"/>
            <a:ext cx="5089239" cy="2341663"/>
            <a:chOff x="0" y="0"/>
            <a:chExt cx="1340376" cy="6167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40376" cy="616734"/>
            </a:xfrm>
            <a:custGeom>
              <a:avLst/>
              <a:gdLst/>
              <a:ahLst/>
              <a:cxnLst/>
              <a:rect r="r" b="b" t="t" l="l"/>
              <a:pathLst>
                <a:path h="616734" w="1340376">
                  <a:moveTo>
                    <a:pt x="41073" y="0"/>
                  </a:moveTo>
                  <a:lnTo>
                    <a:pt x="1299302" y="0"/>
                  </a:lnTo>
                  <a:cubicBezTo>
                    <a:pt x="1321987" y="0"/>
                    <a:pt x="1340376" y="18389"/>
                    <a:pt x="1340376" y="41073"/>
                  </a:cubicBezTo>
                  <a:lnTo>
                    <a:pt x="1340376" y="575661"/>
                  </a:lnTo>
                  <a:cubicBezTo>
                    <a:pt x="1340376" y="598345"/>
                    <a:pt x="1321987" y="616734"/>
                    <a:pt x="1299302" y="616734"/>
                  </a:cubicBezTo>
                  <a:lnTo>
                    <a:pt x="41073" y="616734"/>
                  </a:lnTo>
                  <a:cubicBezTo>
                    <a:pt x="18389" y="616734"/>
                    <a:pt x="0" y="598345"/>
                    <a:pt x="0" y="575661"/>
                  </a:cubicBezTo>
                  <a:lnTo>
                    <a:pt x="0" y="41073"/>
                  </a:lnTo>
                  <a:cubicBezTo>
                    <a:pt x="0" y="18389"/>
                    <a:pt x="18389" y="0"/>
                    <a:pt x="41073" y="0"/>
                  </a:cubicBezTo>
                  <a:close/>
                </a:path>
              </a:pathLst>
            </a:custGeom>
            <a:solidFill>
              <a:srgbClr val="342D4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340376" cy="6643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0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170061" y="6916637"/>
            <a:ext cx="5089239" cy="2341663"/>
            <a:chOff x="0" y="0"/>
            <a:chExt cx="1340376" cy="61673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40376" cy="616734"/>
            </a:xfrm>
            <a:custGeom>
              <a:avLst/>
              <a:gdLst/>
              <a:ahLst/>
              <a:cxnLst/>
              <a:rect r="r" b="b" t="t" l="l"/>
              <a:pathLst>
                <a:path h="616734" w="1340376">
                  <a:moveTo>
                    <a:pt x="41073" y="0"/>
                  </a:moveTo>
                  <a:lnTo>
                    <a:pt x="1299302" y="0"/>
                  </a:lnTo>
                  <a:cubicBezTo>
                    <a:pt x="1321987" y="0"/>
                    <a:pt x="1340376" y="18389"/>
                    <a:pt x="1340376" y="41073"/>
                  </a:cubicBezTo>
                  <a:lnTo>
                    <a:pt x="1340376" y="575661"/>
                  </a:lnTo>
                  <a:cubicBezTo>
                    <a:pt x="1340376" y="598345"/>
                    <a:pt x="1321987" y="616734"/>
                    <a:pt x="1299302" y="616734"/>
                  </a:cubicBezTo>
                  <a:lnTo>
                    <a:pt x="41073" y="616734"/>
                  </a:lnTo>
                  <a:cubicBezTo>
                    <a:pt x="18389" y="616734"/>
                    <a:pt x="0" y="598345"/>
                    <a:pt x="0" y="575661"/>
                  </a:cubicBezTo>
                  <a:lnTo>
                    <a:pt x="0" y="41073"/>
                  </a:lnTo>
                  <a:cubicBezTo>
                    <a:pt x="0" y="18389"/>
                    <a:pt x="18389" y="0"/>
                    <a:pt x="41073" y="0"/>
                  </a:cubicBezTo>
                  <a:close/>
                </a:path>
              </a:pathLst>
            </a:custGeom>
            <a:solidFill>
              <a:srgbClr val="342D4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340376" cy="6643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0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170061" y="4084351"/>
            <a:ext cx="5089239" cy="2341663"/>
            <a:chOff x="0" y="0"/>
            <a:chExt cx="1340376" cy="61673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40376" cy="616734"/>
            </a:xfrm>
            <a:custGeom>
              <a:avLst/>
              <a:gdLst/>
              <a:ahLst/>
              <a:cxnLst/>
              <a:rect r="r" b="b" t="t" l="l"/>
              <a:pathLst>
                <a:path h="616734" w="1340376">
                  <a:moveTo>
                    <a:pt x="41073" y="0"/>
                  </a:moveTo>
                  <a:lnTo>
                    <a:pt x="1299302" y="0"/>
                  </a:lnTo>
                  <a:cubicBezTo>
                    <a:pt x="1321987" y="0"/>
                    <a:pt x="1340376" y="18389"/>
                    <a:pt x="1340376" y="41073"/>
                  </a:cubicBezTo>
                  <a:lnTo>
                    <a:pt x="1340376" y="575661"/>
                  </a:lnTo>
                  <a:cubicBezTo>
                    <a:pt x="1340376" y="598345"/>
                    <a:pt x="1321987" y="616734"/>
                    <a:pt x="1299302" y="616734"/>
                  </a:cubicBezTo>
                  <a:lnTo>
                    <a:pt x="41073" y="616734"/>
                  </a:lnTo>
                  <a:cubicBezTo>
                    <a:pt x="18389" y="616734"/>
                    <a:pt x="0" y="598345"/>
                    <a:pt x="0" y="575661"/>
                  </a:cubicBezTo>
                  <a:lnTo>
                    <a:pt x="0" y="41073"/>
                  </a:lnTo>
                  <a:cubicBezTo>
                    <a:pt x="0" y="18389"/>
                    <a:pt x="18389" y="0"/>
                    <a:pt x="41073" y="0"/>
                  </a:cubicBezTo>
                  <a:close/>
                </a:path>
              </a:pathLst>
            </a:custGeom>
            <a:solidFill>
              <a:srgbClr val="342D47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340376" cy="6643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0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52391" y="7343577"/>
            <a:ext cx="4241857" cy="1448871"/>
            <a:chOff x="0" y="0"/>
            <a:chExt cx="5655809" cy="1931828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603287"/>
              <a:ext cx="5655809" cy="13285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946"/>
                </a:lnSpc>
              </a:pPr>
              <a:r>
                <a:rPr lang="en-US" sz="1769">
                  <a:solidFill>
                    <a:srgbClr val="F5F7F8"/>
                  </a:solidFill>
                  <a:latin typeface="Agrandir"/>
                  <a:ea typeface="Agrandir"/>
                  <a:cs typeface="Agrandir"/>
                  <a:sym typeface="Agrandir"/>
                </a:rPr>
                <a:t>Acceso libre sin necesidad de login. Los estudiantes consultan recursos directamente desde el navegador, sin crear cuentas.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657716" y="-38100"/>
              <a:ext cx="4340377" cy="4540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271"/>
                </a:lnSpc>
              </a:pPr>
              <a:r>
                <a:rPr lang="en-US" b="true" sz="2064">
                  <a:solidFill>
                    <a:srgbClr val="F5F7F8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Portal Público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023072" y="7343577"/>
            <a:ext cx="4241857" cy="1448871"/>
            <a:chOff x="0" y="0"/>
            <a:chExt cx="5655809" cy="1931828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603287"/>
              <a:ext cx="5655809" cy="13285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946"/>
                </a:lnSpc>
              </a:pPr>
              <a:r>
                <a:rPr lang="en-US" sz="1769">
                  <a:solidFill>
                    <a:srgbClr val="F5F7F8"/>
                  </a:solidFill>
                  <a:latin typeface="Agrandir"/>
                  <a:ea typeface="Agrandir"/>
                  <a:cs typeface="Agrandir"/>
                  <a:sym typeface="Agrandir"/>
                </a:rPr>
                <a:t>Navegación estructurada por nivel, grado y materia. Jerarquía editable con categorías, subcategorías y materias personalizables.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657716" y="-38100"/>
              <a:ext cx="4340377" cy="4540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271"/>
                </a:lnSpc>
              </a:pPr>
              <a:r>
                <a:rPr lang="en-US" b="true" sz="2064">
                  <a:solidFill>
                    <a:srgbClr val="F5F7F8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Ruta Académica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593752" y="7343577"/>
            <a:ext cx="4241857" cy="1448871"/>
            <a:chOff x="0" y="0"/>
            <a:chExt cx="5655809" cy="1931828"/>
          </a:xfrm>
        </p:grpSpPr>
        <p:sp>
          <p:nvSpPr>
            <p:cNvPr name="TextBox 24" id="24"/>
            <p:cNvSpPr txBox="true"/>
            <p:nvPr/>
          </p:nvSpPr>
          <p:spPr>
            <a:xfrm rot="0">
              <a:off x="0" y="603287"/>
              <a:ext cx="5655809" cy="13285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946"/>
                </a:lnSpc>
              </a:pPr>
              <a:r>
                <a:rPr lang="en-US" sz="1769">
                  <a:solidFill>
                    <a:srgbClr val="F5F7F8"/>
                  </a:solidFill>
                  <a:latin typeface="Agrandir"/>
                  <a:ea typeface="Agrandir"/>
                  <a:cs typeface="Agrandir"/>
                  <a:sym typeface="Agrandir"/>
                </a:rPr>
                <a:t>Administración de usuarios con roles diferenciados. Auditoría completa de operaciones y accesos para control institucional total.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657716" y="-38100"/>
              <a:ext cx="4340377" cy="4540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271"/>
                </a:lnSpc>
              </a:pPr>
              <a:r>
                <a:rPr lang="en-US" b="true" sz="2064">
                  <a:solidFill>
                    <a:srgbClr val="F5F7F8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Gestión y Auditoría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593752" y="4511290"/>
            <a:ext cx="4241857" cy="1448871"/>
            <a:chOff x="0" y="0"/>
            <a:chExt cx="5655809" cy="1931828"/>
          </a:xfrm>
        </p:grpSpPr>
        <p:sp>
          <p:nvSpPr>
            <p:cNvPr name="TextBox 27" id="27"/>
            <p:cNvSpPr txBox="true"/>
            <p:nvPr/>
          </p:nvSpPr>
          <p:spPr>
            <a:xfrm rot="0">
              <a:off x="0" y="603287"/>
              <a:ext cx="5655809" cy="13285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946"/>
                </a:lnSpc>
              </a:pPr>
              <a:r>
                <a:rPr lang="en-US" sz="1769">
                  <a:solidFill>
                    <a:srgbClr val="F5F7F8"/>
                  </a:solidFill>
                  <a:latin typeface="Agrandir"/>
                  <a:ea typeface="Agrandir"/>
                  <a:cs typeface="Agrandir"/>
                  <a:sym typeface="Agrandir"/>
                </a:rPr>
                <a:t>Catálogo de libros con portadas, descripciones, búsqueda avanzada y filtros por materia, grado o categoría temática.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657716" y="-38100"/>
              <a:ext cx="4340377" cy="4540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271"/>
                </a:lnSpc>
              </a:pPr>
              <a:r>
                <a:rPr lang="en-US" b="true" sz="2064">
                  <a:solidFill>
                    <a:srgbClr val="F5F7F8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Catálogo Digital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170061" y="1028700"/>
            <a:ext cx="5089239" cy="2837460"/>
            <a:chOff x="0" y="0"/>
            <a:chExt cx="6785652" cy="3783280"/>
          </a:xfrm>
        </p:grpSpPr>
        <p:pic>
          <p:nvPicPr>
            <p:cNvPr name="Picture 30" id="30"/>
            <p:cNvPicPr>
              <a:picLocks noChangeAspect="true"/>
            </p:cNvPicPr>
            <p:nvPr/>
          </p:nvPicPr>
          <p:blipFill>
            <a:blip r:embed="rId3"/>
            <a:srcRect l="339" t="0" r="339" b="0"/>
            <a:stretch>
              <a:fillRect/>
            </a:stretch>
          </p:blipFill>
          <p:spPr>
            <a:xfrm flipH="false" flipV="false">
              <a:off x="0" y="0"/>
              <a:ext cx="6785652" cy="3783280"/>
            </a:xfrm>
            <a:prstGeom prst="rect">
              <a:avLst/>
            </a:prstGeom>
          </p:spPr>
        </p:pic>
      </p:grpSp>
      <p:sp>
        <p:nvSpPr>
          <p:cNvPr name="TextBox 31" id="31"/>
          <p:cNvSpPr txBox="true"/>
          <p:nvPr/>
        </p:nvSpPr>
        <p:spPr>
          <a:xfrm rot="0">
            <a:off x="1997607" y="1028700"/>
            <a:ext cx="1927686" cy="572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14"/>
              </a:lnSpc>
            </a:pPr>
            <a:r>
              <a:rPr lang="en-US" b="true" sz="2226" spc="-122">
                <a:solidFill>
                  <a:srgbClr val="342D47"/>
                </a:solidFill>
                <a:latin typeface="Agrandir Bold"/>
                <a:ea typeface="Agrandir Bold"/>
                <a:cs typeface="Agrandir Bold"/>
                <a:sym typeface="Agrandir Bold"/>
              </a:rPr>
              <a:t>BIBLIOTECA ESCOLAR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881918" y="618775"/>
            <a:ext cx="987259" cy="982322"/>
          </a:xfrm>
          <a:custGeom>
            <a:avLst/>
            <a:gdLst/>
            <a:ahLst/>
            <a:cxnLst/>
            <a:rect r="r" b="b" t="t" l="l"/>
            <a:pathLst>
              <a:path h="982322" w="987259">
                <a:moveTo>
                  <a:pt x="0" y="0"/>
                </a:moveTo>
                <a:lnTo>
                  <a:pt x="987258" y="0"/>
                </a:lnTo>
                <a:lnTo>
                  <a:pt x="987258" y="982322"/>
                </a:lnTo>
                <a:lnTo>
                  <a:pt x="0" y="9823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953695"/>
            <a:ext cx="10035492" cy="6287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994"/>
              </a:lnSpc>
            </a:pPr>
            <a:r>
              <a:rPr lang="en-US" sz="18598" spc="-1022">
                <a:solidFill>
                  <a:srgbClr val="342D47"/>
                </a:solidFill>
                <a:latin typeface="Staatliches"/>
                <a:ea typeface="Staatliches"/>
                <a:cs typeface="Staatliches"/>
                <a:sym typeface="Staatliches"/>
              </a:rPr>
              <a:t>EXPERIENCIA DEL ESTUDIANTE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8631566"/>
            <a:ext cx="8371809" cy="427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40"/>
              </a:lnSpc>
            </a:pPr>
            <a:r>
              <a:rPr lang="en-US" sz="1400">
                <a:solidFill>
                  <a:srgbClr val="342D47"/>
                </a:solidFill>
                <a:latin typeface="Agrandir"/>
                <a:ea typeface="Agrandir"/>
                <a:cs typeface="Agrandir"/>
                <a:sym typeface="Agrandir"/>
              </a:rPr>
              <a:t>Acceso libre desde cualquier dispositivo. Sin necesidad de crear una cuenta para consultar los recursos digitales disponibles en el portal.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2170061" y="1182789"/>
            <a:ext cx="5089239" cy="2341663"/>
            <a:chOff x="0" y="0"/>
            <a:chExt cx="1340376" cy="61673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40376" cy="616734"/>
            </a:xfrm>
            <a:custGeom>
              <a:avLst/>
              <a:gdLst/>
              <a:ahLst/>
              <a:cxnLst/>
              <a:rect r="r" b="b" t="t" l="l"/>
              <a:pathLst>
                <a:path h="616734" w="1340376">
                  <a:moveTo>
                    <a:pt x="41073" y="0"/>
                  </a:moveTo>
                  <a:lnTo>
                    <a:pt x="1299302" y="0"/>
                  </a:lnTo>
                  <a:cubicBezTo>
                    <a:pt x="1321987" y="0"/>
                    <a:pt x="1340376" y="18389"/>
                    <a:pt x="1340376" y="41073"/>
                  </a:cubicBezTo>
                  <a:lnTo>
                    <a:pt x="1340376" y="575661"/>
                  </a:lnTo>
                  <a:cubicBezTo>
                    <a:pt x="1340376" y="598345"/>
                    <a:pt x="1321987" y="616734"/>
                    <a:pt x="1299302" y="616734"/>
                  </a:cubicBezTo>
                  <a:lnTo>
                    <a:pt x="41073" y="616734"/>
                  </a:lnTo>
                  <a:cubicBezTo>
                    <a:pt x="18389" y="616734"/>
                    <a:pt x="0" y="598345"/>
                    <a:pt x="0" y="575661"/>
                  </a:cubicBezTo>
                  <a:lnTo>
                    <a:pt x="0" y="41073"/>
                  </a:lnTo>
                  <a:cubicBezTo>
                    <a:pt x="0" y="18389"/>
                    <a:pt x="18389" y="0"/>
                    <a:pt x="41073" y="0"/>
                  </a:cubicBezTo>
                  <a:close/>
                </a:path>
              </a:pathLst>
            </a:custGeom>
            <a:solidFill>
              <a:srgbClr val="342D4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340376" cy="6643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0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996410" y="3814793"/>
            <a:ext cx="5089239" cy="2341663"/>
            <a:chOff x="0" y="0"/>
            <a:chExt cx="1340376" cy="6167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40376" cy="616734"/>
            </a:xfrm>
            <a:custGeom>
              <a:avLst/>
              <a:gdLst/>
              <a:ahLst/>
              <a:cxnLst/>
              <a:rect r="r" b="b" t="t" l="l"/>
              <a:pathLst>
                <a:path h="616734" w="1340376">
                  <a:moveTo>
                    <a:pt x="41073" y="0"/>
                  </a:moveTo>
                  <a:lnTo>
                    <a:pt x="1299302" y="0"/>
                  </a:lnTo>
                  <a:cubicBezTo>
                    <a:pt x="1321987" y="0"/>
                    <a:pt x="1340376" y="18389"/>
                    <a:pt x="1340376" y="41073"/>
                  </a:cubicBezTo>
                  <a:lnTo>
                    <a:pt x="1340376" y="575661"/>
                  </a:lnTo>
                  <a:cubicBezTo>
                    <a:pt x="1340376" y="598345"/>
                    <a:pt x="1321987" y="616734"/>
                    <a:pt x="1299302" y="616734"/>
                  </a:cubicBezTo>
                  <a:lnTo>
                    <a:pt x="41073" y="616734"/>
                  </a:lnTo>
                  <a:cubicBezTo>
                    <a:pt x="18389" y="616734"/>
                    <a:pt x="0" y="598345"/>
                    <a:pt x="0" y="575661"/>
                  </a:cubicBezTo>
                  <a:lnTo>
                    <a:pt x="0" y="41073"/>
                  </a:lnTo>
                  <a:cubicBezTo>
                    <a:pt x="0" y="18389"/>
                    <a:pt x="18389" y="0"/>
                    <a:pt x="41073" y="0"/>
                  </a:cubicBezTo>
                  <a:close/>
                </a:path>
              </a:pathLst>
            </a:custGeom>
            <a:solidFill>
              <a:srgbClr val="342D4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340376" cy="6643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0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593752" y="1809821"/>
            <a:ext cx="4241857" cy="871221"/>
            <a:chOff x="0" y="0"/>
            <a:chExt cx="5655809" cy="1161628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474558"/>
              <a:ext cx="5655809" cy="6870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320"/>
                </a:lnSpc>
              </a:pPr>
              <a:r>
                <a:rPr lang="en-US" sz="1200">
                  <a:solidFill>
                    <a:srgbClr val="F5F7F8"/>
                  </a:solidFill>
                  <a:latin typeface="Agrandir"/>
                  <a:ea typeface="Agrandir"/>
                  <a:cs typeface="Agrandir"/>
                  <a:sym typeface="Agrandir"/>
                </a:rPr>
                <a:t>Compatible con PC, tablet y móvil gracias al diseño responsivo. Los recursos se abren en nuevas pestañas sin interrumpir la navegación del estudiante.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657716" y="-28575"/>
              <a:ext cx="4340377" cy="3062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540"/>
                </a:lnSpc>
              </a:pPr>
              <a:r>
                <a:rPr lang="en-US" b="true" sz="1400">
                  <a:solidFill>
                    <a:srgbClr val="F5F7F8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Acceso Universal y Sin Barreras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2593752" y="4966574"/>
            <a:ext cx="4241857" cy="520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20"/>
              </a:lnSpc>
            </a:pPr>
            <a:r>
              <a:rPr lang="en-US" sz="1200">
                <a:solidFill>
                  <a:srgbClr val="F5F7F8"/>
                </a:solidFill>
                <a:latin typeface="Agrandir"/>
                <a:ea typeface="Agrandir"/>
                <a:cs typeface="Agrandir"/>
                <a:sym typeface="Agrandir"/>
              </a:rPr>
              <a:t>El estudiante navega fácilmente por nivel, grado y materia. No requiere cuenta para consultar recursos públicos; solo el personal administrativo necesita autenticarse.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972582" y="4482715"/>
            <a:ext cx="3484196" cy="427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40"/>
              </a:lnSpc>
            </a:pPr>
            <a:r>
              <a:rPr lang="en-US" b="true" sz="1400">
                <a:solidFill>
                  <a:srgbClr val="F5F7F8"/>
                </a:solidFill>
                <a:latin typeface="Agrandir Bold"/>
                <a:ea typeface="Agrandir Bold"/>
                <a:cs typeface="Agrandir Bold"/>
                <a:sym typeface="Agrandir Bold"/>
              </a:rPr>
              <a:t>Navegación Intuitiva por Grado y Materia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1996410" y="6426013"/>
            <a:ext cx="7417554" cy="4139737"/>
            <a:chOff x="0" y="0"/>
            <a:chExt cx="9890072" cy="5519650"/>
          </a:xfrm>
        </p:grpSpPr>
        <p:pic>
          <p:nvPicPr>
            <p:cNvPr name="Picture 17" id="17"/>
            <p:cNvPicPr>
              <a:picLocks noChangeAspect="true"/>
            </p:cNvPicPr>
            <p:nvPr/>
          </p:nvPicPr>
          <p:blipFill>
            <a:blip r:embed="rId3"/>
            <a:srcRect l="0" t="501" r="0" b="501"/>
            <a:stretch>
              <a:fillRect/>
            </a:stretch>
          </p:blipFill>
          <p:spPr>
            <a:xfrm flipH="false" flipV="false">
              <a:off x="0" y="0"/>
              <a:ext cx="9890072" cy="5519650"/>
            </a:xfrm>
            <a:prstGeom prst="rect">
              <a:avLst/>
            </a:prstGeom>
          </p:spPr>
        </p:pic>
      </p:grpSp>
      <p:sp>
        <p:nvSpPr>
          <p:cNvPr name="TextBox 18" id="18"/>
          <p:cNvSpPr txBox="true"/>
          <p:nvPr/>
        </p:nvSpPr>
        <p:spPr>
          <a:xfrm rot="0">
            <a:off x="1997607" y="1028700"/>
            <a:ext cx="1927686" cy="572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14"/>
              </a:lnSpc>
            </a:pPr>
            <a:r>
              <a:rPr lang="en-US" b="true" sz="2226" spc="-122">
                <a:solidFill>
                  <a:srgbClr val="342D47"/>
                </a:solidFill>
                <a:latin typeface="Agrandir Bold"/>
                <a:ea typeface="Agrandir Bold"/>
                <a:cs typeface="Agrandir Bold"/>
                <a:sym typeface="Agrandir Bold"/>
              </a:rPr>
              <a:t>BIBLIOTECA ESCOLAR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881918" y="618775"/>
            <a:ext cx="987259" cy="982322"/>
          </a:xfrm>
          <a:custGeom>
            <a:avLst/>
            <a:gdLst/>
            <a:ahLst/>
            <a:cxnLst/>
            <a:rect r="r" b="b" t="t" l="l"/>
            <a:pathLst>
              <a:path h="982322" w="987259">
                <a:moveTo>
                  <a:pt x="0" y="0"/>
                </a:moveTo>
                <a:lnTo>
                  <a:pt x="987258" y="0"/>
                </a:lnTo>
                <a:lnTo>
                  <a:pt x="987258" y="982322"/>
                </a:lnTo>
                <a:lnTo>
                  <a:pt x="0" y="9823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417578" y="1382882"/>
            <a:ext cx="9389102" cy="3421430"/>
            <a:chOff x="0" y="0"/>
            <a:chExt cx="12518803" cy="4561906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0" t="421" r="0" b="421"/>
            <a:stretch>
              <a:fillRect/>
            </a:stretch>
          </p:blipFill>
          <p:spPr>
            <a:xfrm flipH="false" flipV="false">
              <a:off x="0" y="0"/>
              <a:ext cx="12518803" cy="4561906"/>
            </a:xfrm>
            <a:prstGeom prst="rect">
              <a:avLst/>
            </a:prstGeom>
          </p:spPr>
        </p:pic>
      </p:grpSp>
      <p:grpSp>
        <p:nvGrpSpPr>
          <p:cNvPr name="Group 5" id="5"/>
          <p:cNvGrpSpPr/>
          <p:nvPr/>
        </p:nvGrpSpPr>
        <p:grpSpPr>
          <a:xfrm rot="0">
            <a:off x="1028700" y="5574897"/>
            <a:ext cx="5089239" cy="3683403"/>
            <a:chOff x="0" y="0"/>
            <a:chExt cx="1340376" cy="9701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40376" cy="970115"/>
            </a:xfrm>
            <a:custGeom>
              <a:avLst/>
              <a:gdLst/>
              <a:ahLst/>
              <a:cxnLst/>
              <a:rect r="r" b="b" t="t" l="l"/>
              <a:pathLst>
                <a:path h="970115" w="1340376">
                  <a:moveTo>
                    <a:pt x="41073" y="0"/>
                  </a:moveTo>
                  <a:lnTo>
                    <a:pt x="1299302" y="0"/>
                  </a:lnTo>
                  <a:cubicBezTo>
                    <a:pt x="1321987" y="0"/>
                    <a:pt x="1340376" y="18389"/>
                    <a:pt x="1340376" y="41073"/>
                  </a:cubicBezTo>
                  <a:lnTo>
                    <a:pt x="1340376" y="929041"/>
                  </a:lnTo>
                  <a:cubicBezTo>
                    <a:pt x="1340376" y="951725"/>
                    <a:pt x="1321987" y="970115"/>
                    <a:pt x="1299302" y="970115"/>
                  </a:cubicBezTo>
                  <a:lnTo>
                    <a:pt x="41073" y="970115"/>
                  </a:lnTo>
                  <a:cubicBezTo>
                    <a:pt x="18389" y="970115"/>
                    <a:pt x="0" y="951725"/>
                    <a:pt x="0" y="929041"/>
                  </a:cubicBezTo>
                  <a:lnTo>
                    <a:pt x="0" y="41073"/>
                  </a:lnTo>
                  <a:cubicBezTo>
                    <a:pt x="0" y="18389"/>
                    <a:pt x="18389" y="0"/>
                    <a:pt x="41073" y="0"/>
                  </a:cubicBezTo>
                  <a:close/>
                </a:path>
              </a:pathLst>
            </a:custGeom>
            <a:solidFill>
              <a:srgbClr val="342D4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340376" cy="10177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0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599380" y="5574897"/>
            <a:ext cx="5089239" cy="3683403"/>
            <a:chOff x="0" y="0"/>
            <a:chExt cx="1340376" cy="97011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40376" cy="970115"/>
            </a:xfrm>
            <a:custGeom>
              <a:avLst/>
              <a:gdLst/>
              <a:ahLst/>
              <a:cxnLst/>
              <a:rect r="r" b="b" t="t" l="l"/>
              <a:pathLst>
                <a:path h="970115" w="1340376">
                  <a:moveTo>
                    <a:pt x="41073" y="0"/>
                  </a:moveTo>
                  <a:lnTo>
                    <a:pt x="1299302" y="0"/>
                  </a:lnTo>
                  <a:cubicBezTo>
                    <a:pt x="1321987" y="0"/>
                    <a:pt x="1340376" y="18389"/>
                    <a:pt x="1340376" y="41073"/>
                  </a:cubicBezTo>
                  <a:lnTo>
                    <a:pt x="1340376" y="929041"/>
                  </a:lnTo>
                  <a:cubicBezTo>
                    <a:pt x="1340376" y="951725"/>
                    <a:pt x="1321987" y="970115"/>
                    <a:pt x="1299302" y="970115"/>
                  </a:cubicBezTo>
                  <a:lnTo>
                    <a:pt x="41073" y="970115"/>
                  </a:lnTo>
                  <a:cubicBezTo>
                    <a:pt x="18389" y="970115"/>
                    <a:pt x="0" y="951725"/>
                    <a:pt x="0" y="929041"/>
                  </a:cubicBezTo>
                  <a:lnTo>
                    <a:pt x="0" y="41073"/>
                  </a:lnTo>
                  <a:cubicBezTo>
                    <a:pt x="0" y="18389"/>
                    <a:pt x="18389" y="0"/>
                    <a:pt x="41073" y="0"/>
                  </a:cubicBezTo>
                  <a:close/>
                </a:path>
              </a:pathLst>
            </a:custGeom>
            <a:solidFill>
              <a:srgbClr val="96B7C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340376" cy="10177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0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8700" y="3024684"/>
            <a:ext cx="7323234" cy="1255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74"/>
              </a:lnSpc>
            </a:pPr>
            <a:r>
              <a:rPr lang="en-US" sz="10551" spc="-580">
                <a:solidFill>
                  <a:srgbClr val="342D47"/>
                </a:solidFill>
                <a:latin typeface="Staatliches"/>
                <a:ea typeface="Staatliches"/>
                <a:cs typeface="Staatliches"/>
                <a:sym typeface="Staatliches"/>
              </a:rPr>
              <a:t>ROLES Y PERMISOS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2170061" y="5574897"/>
            <a:ext cx="5089239" cy="3683403"/>
            <a:chOff x="0" y="0"/>
            <a:chExt cx="1340376" cy="97011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40376" cy="970115"/>
            </a:xfrm>
            <a:custGeom>
              <a:avLst/>
              <a:gdLst/>
              <a:ahLst/>
              <a:cxnLst/>
              <a:rect r="r" b="b" t="t" l="l"/>
              <a:pathLst>
                <a:path h="970115" w="1340376">
                  <a:moveTo>
                    <a:pt x="41073" y="0"/>
                  </a:moveTo>
                  <a:lnTo>
                    <a:pt x="1299302" y="0"/>
                  </a:lnTo>
                  <a:cubicBezTo>
                    <a:pt x="1321987" y="0"/>
                    <a:pt x="1340376" y="18389"/>
                    <a:pt x="1340376" y="41073"/>
                  </a:cubicBezTo>
                  <a:lnTo>
                    <a:pt x="1340376" y="929041"/>
                  </a:lnTo>
                  <a:cubicBezTo>
                    <a:pt x="1340376" y="951725"/>
                    <a:pt x="1321987" y="970115"/>
                    <a:pt x="1299302" y="970115"/>
                  </a:cubicBezTo>
                  <a:lnTo>
                    <a:pt x="41073" y="970115"/>
                  </a:lnTo>
                  <a:cubicBezTo>
                    <a:pt x="18389" y="970115"/>
                    <a:pt x="0" y="951725"/>
                    <a:pt x="0" y="929041"/>
                  </a:cubicBezTo>
                  <a:lnTo>
                    <a:pt x="0" y="41073"/>
                  </a:lnTo>
                  <a:cubicBezTo>
                    <a:pt x="0" y="18389"/>
                    <a:pt x="18389" y="0"/>
                    <a:pt x="41073" y="0"/>
                  </a:cubicBezTo>
                  <a:close/>
                </a:path>
              </a:pathLst>
            </a:custGeom>
            <a:solidFill>
              <a:srgbClr val="342D47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340376" cy="10177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0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7516359" y="7196573"/>
            <a:ext cx="3255282" cy="119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01"/>
              </a:lnSpc>
            </a:pPr>
            <a:r>
              <a:rPr lang="en-US" sz="1637">
                <a:solidFill>
                  <a:srgbClr val="342D47"/>
                </a:solidFill>
                <a:latin typeface="Agrandir"/>
                <a:ea typeface="Agrandir"/>
                <a:cs typeface="Agrandir"/>
                <a:sym typeface="Agrandir"/>
              </a:rPr>
              <a:t>Gestión de contenido académico: carga y edición de recursos, libros y categorías. Acceso limitado según función asignada por el administrador.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516359" y="6308849"/>
            <a:ext cx="3255282" cy="329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01"/>
              </a:lnSpc>
            </a:pPr>
            <a:r>
              <a:rPr lang="en-US" b="true" sz="1910">
                <a:solidFill>
                  <a:srgbClr val="342D47"/>
                </a:solidFill>
                <a:latin typeface="Agrandir Bold"/>
                <a:ea typeface="Agrandir Bold"/>
                <a:cs typeface="Agrandir Bold"/>
                <a:sym typeface="Agrandir Bold"/>
              </a:rPr>
              <a:t>Rector / Personal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945678" y="7196573"/>
            <a:ext cx="3255282" cy="119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01"/>
              </a:lnSpc>
            </a:pPr>
            <a:r>
              <a:rPr lang="en-US" sz="1637">
                <a:solidFill>
                  <a:srgbClr val="F5F7F8"/>
                </a:solidFill>
                <a:latin typeface="Agrandir"/>
                <a:ea typeface="Agrandir"/>
                <a:cs typeface="Agrandir"/>
                <a:sym typeface="Agrandir"/>
              </a:rPr>
              <a:t>Control total del sistema: gestión de usuarios, roles, estructura académica, auditoría completa de operaciones y accesos, configuración institucional.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945678" y="6308849"/>
            <a:ext cx="3255282" cy="329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01"/>
              </a:lnSpc>
            </a:pPr>
            <a:r>
              <a:rPr lang="en-US" b="true" sz="1910">
                <a:solidFill>
                  <a:srgbClr val="F5F7F8"/>
                </a:solidFill>
                <a:latin typeface="Agrandir Bold"/>
                <a:ea typeface="Agrandir Bold"/>
                <a:cs typeface="Agrandir Bold"/>
                <a:sym typeface="Agrandir Bold"/>
              </a:rPr>
              <a:t>Administrador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087039" y="7196573"/>
            <a:ext cx="3255282" cy="119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01"/>
              </a:lnSpc>
            </a:pPr>
            <a:r>
              <a:rPr lang="en-US" sz="1637">
                <a:solidFill>
                  <a:srgbClr val="F5F7F8"/>
                </a:solidFill>
                <a:latin typeface="Agrandir"/>
                <a:ea typeface="Agrandir"/>
                <a:cs typeface="Agrandir"/>
                <a:sym typeface="Agrandir"/>
              </a:rPr>
              <a:t>Asignar roles según la función institucional de cada usuario para garantizar control, trazabilidad y seguridad en el portal educativo.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087039" y="6308849"/>
            <a:ext cx="3255282" cy="329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01"/>
              </a:lnSpc>
            </a:pPr>
            <a:r>
              <a:rPr lang="en-US" b="true" sz="1910">
                <a:solidFill>
                  <a:srgbClr val="F5F7F8"/>
                </a:solidFill>
                <a:latin typeface="Agrandir Bold"/>
                <a:ea typeface="Agrandir Bold"/>
                <a:cs typeface="Agrandir Bold"/>
                <a:sym typeface="Agrandir Bold"/>
              </a:rPr>
              <a:t>Recomendación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997607" y="1028700"/>
            <a:ext cx="1927686" cy="572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14"/>
              </a:lnSpc>
            </a:pPr>
            <a:r>
              <a:rPr lang="en-US" b="true" sz="2226" spc="-122">
                <a:solidFill>
                  <a:srgbClr val="342D47"/>
                </a:solidFill>
                <a:latin typeface="Agrandir Bold"/>
                <a:ea typeface="Agrandir Bold"/>
                <a:cs typeface="Agrandir Bold"/>
                <a:sym typeface="Agrandir Bold"/>
              </a:rPr>
              <a:t>BIBLIOTECA ESCOLAR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881918" y="618775"/>
            <a:ext cx="987259" cy="982322"/>
          </a:xfrm>
          <a:custGeom>
            <a:avLst/>
            <a:gdLst/>
            <a:ahLst/>
            <a:cxnLst/>
            <a:rect r="r" b="b" t="t" l="l"/>
            <a:pathLst>
              <a:path h="982322" w="987259">
                <a:moveTo>
                  <a:pt x="0" y="0"/>
                </a:moveTo>
                <a:lnTo>
                  <a:pt x="987258" y="0"/>
                </a:lnTo>
                <a:lnTo>
                  <a:pt x="987258" y="982322"/>
                </a:lnTo>
                <a:lnTo>
                  <a:pt x="0" y="9823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997607" y="1038225"/>
            <a:ext cx="1927686" cy="675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58"/>
              </a:lnSpc>
            </a:pPr>
            <a:r>
              <a:rPr lang="en-US" b="true" sz="2626" spc="-144">
                <a:solidFill>
                  <a:srgbClr val="342D47"/>
                </a:solidFill>
                <a:latin typeface="Agrandir Bold"/>
                <a:ea typeface="Agrandir Bold"/>
                <a:cs typeface="Agrandir Bold"/>
                <a:sym typeface="Agrandir Bold"/>
              </a:rPr>
              <a:t>BIBLIOTECA ESCOLAR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2292" y="2805694"/>
            <a:ext cx="9873164" cy="3889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610"/>
              </a:lnSpc>
            </a:pPr>
            <a:r>
              <a:rPr lang="en-US" sz="16988" spc="-934">
                <a:solidFill>
                  <a:srgbClr val="342D47"/>
                </a:solidFill>
                <a:latin typeface="Staatliches"/>
                <a:ea typeface="Staatliches"/>
                <a:cs typeface="Staatliches"/>
                <a:sym typeface="Staatliches"/>
              </a:rPr>
              <a:t>ARQUITECTURA TÉCNICA</a:t>
            </a:r>
          </a:p>
        </p:txBody>
      </p:sp>
      <p:sp>
        <p:nvSpPr>
          <p:cNvPr name="AutoShape 5" id="5"/>
          <p:cNvSpPr/>
          <p:nvPr/>
        </p:nvSpPr>
        <p:spPr>
          <a:xfrm>
            <a:off x="0" y="7263298"/>
            <a:ext cx="18288000" cy="0"/>
          </a:xfrm>
          <a:prstGeom prst="line">
            <a:avLst/>
          </a:prstGeom>
          <a:ln cap="flat" w="38100">
            <a:solidFill>
              <a:srgbClr val="342D4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028700" y="7244248"/>
            <a:ext cx="4070174" cy="1932635"/>
            <a:chOff x="0" y="0"/>
            <a:chExt cx="5426899" cy="2576847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241300" y="460375"/>
              <a:ext cx="1850732" cy="4874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19"/>
                </a:lnSpc>
              </a:pPr>
              <a:r>
                <a:rPr lang="en-US" b="true" sz="2013">
                  <a:solidFill>
                    <a:srgbClr val="342D47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Frontend</a:t>
              </a:r>
            </a:p>
          </p:txBody>
        </p:sp>
        <p:sp>
          <p:nvSpPr>
            <p:cNvPr name="AutoShape 8" id="8"/>
            <p:cNvSpPr/>
            <p:nvPr/>
          </p:nvSpPr>
          <p:spPr>
            <a:xfrm>
              <a:off x="25400" y="0"/>
              <a:ext cx="0" cy="1001720"/>
            </a:xfrm>
            <a:prstGeom prst="line">
              <a:avLst/>
            </a:prstGeom>
            <a:ln cap="flat" w="50800">
              <a:solidFill>
                <a:srgbClr val="342D47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9" id="9"/>
            <p:cNvSpPr txBox="true"/>
            <p:nvPr/>
          </p:nvSpPr>
          <p:spPr>
            <a:xfrm rot="0">
              <a:off x="0" y="1731662"/>
              <a:ext cx="5426899" cy="8451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679"/>
                </a:lnSpc>
                <a:spcBef>
                  <a:spcPct val="0"/>
                </a:spcBef>
              </a:pPr>
              <a:r>
                <a:rPr lang="en-US" sz="1200">
                  <a:solidFill>
                    <a:srgbClr val="342D47"/>
                  </a:solidFill>
                  <a:latin typeface="Agrandir"/>
                  <a:ea typeface="Agrandir"/>
                  <a:cs typeface="Agrandir"/>
                  <a:sym typeface="Agrandir"/>
                </a:rPr>
                <a:t>React 18 + Tailwind CSS + Radix UI. Interfaz responsiva, navegación intuitiva por grados y materias, optimizada para PC, tablet y móvil.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040615" y="7244248"/>
            <a:ext cx="4070174" cy="1932635"/>
            <a:chOff x="0" y="0"/>
            <a:chExt cx="5426899" cy="2576847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241300" y="460375"/>
              <a:ext cx="1806482" cy="4874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19"/>
                </a:lnSpc>
              </a:pPr>
              <a:r>
                <a:rPr lang="en-US" b="true" sz="2013">
                  <a:solidFill>
                    <a:srgbClr val="342D47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Backend</a:t>
              </a:r>
            </a:p>
          </p:txBody>
        </p:sp>
        <p:sp>
          <p:nvSpPr>
            <p:cNvPr name="AutoShape 12" id="12"/>
            <p:cNvSpPr/>
            <p:nvPr/>
          </p:nvSpPr>
          <p:spPr>
            <a:xfrm>
              <a:off x="25400" y="0"/>
              <a:ext cx="0" cy="1001720"/>
            </a:xfrm>
            <a:prstGeom prst="line">
              <a:avLst/>
            </a:prstGeom>
            <a:ln cap="flat" w="50800">
              <a:solidFill>
                <a:srgbClr val="342D47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3" id="13"/>
            <p:cNvSpPr txBox="true"/>
            <p:nvPr/>
          </p:nvSpPr>
          <p:spPr>
            <a:xfrm rot="0">
              <a:off x="0" y="1731662"/>
              <a:ext cx="5426899" cy="8451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679"/>
                </a:lnSpc>
                <a:spcBef>
                  <a:spcPct val="0"/>
                </a:spcBef>
              </a:pPr>
              <a:r>
                <a:rPr lang="en-US" sz="1200">
                  <a:solidFill>
                    <a:srgbClr val="342D47"/>
                  </a:solidFill>
                  <a:latin typeface="Agrandir"/>
                  <a:ea typeface="Agrandir"/>
                  <a:cs typeface="Agrandir"/>
                  <a:sym typeface="Agrandir"/>
                </a:rPr>
                <a:t>Python FastAPI con MongoDB. API REST documentada, autenticación JWT, cookies HttpOnly, bcrypt para contraseñas y auditoría completa de accesos.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052530" y="7244248"/>
            <a:ext cx="4070174" cy="1932635"/>
            <a:chOff x="0" y="0"/>
            <a:chExt cx="5426899" cy="2576847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247016" y="460375"/>
              <a:ext cx="1806482" cy="4874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19"/>
                </a:lnSpc>
              </a:pPr>
              <a:r>
                <a:rPr lang="en-US" b="true" sz="2013">
                  <a:solidFill>
                    <a:srgbClr val="342D47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Seguridad</a:t>
              </a:r>
            </a:p>
          </p:txBody>
        </p:sp>
        <p:sp>
          <p:nvSpPr>
            <p:cNvPr name="AutoShape 16" id="16"/>
            <p:cNvSpPr/>
            <p:nvPr/>
          </p:nvSpPr>
          <p:spPr>
            <a:xfrm>
              <a:off x="25400" y="0"/>
              <a:ext cx="0" cy="1001720"/>
            </a:xfrm>
            <a:prstGeom prst="line">
              <a:avLst/>
            </a:prstGeom>
            <a:ln cap="flat" w="50800">
              <a:solidFill>
                <a:srgbClr val="342D47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7" id="17"/>
            <p:cNvSpPr txBox="true"/>
            <p:nvPr/>
          </p:nvSpPr>
          <p:spPr>
            <a:xfrm rot="0">
              <a:off x="0" y="1731662"/>
              <a:ext cx="5426899" cy="8451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679"/>
                </a:lnSpc>
                <a:spcBef>
                  <a:spcPct val="0"/>
                </a:spcBef>
              </a:pPr>
              <a:r>
                <a:rPr lang="en-US" sz="1200">
                  <a:solidFill>
                    <a:srgbClr val="342D47"/>
                  </a:solidFill>
                  <a:latin typeface="Agrandir"/>
                  <a:ea typeface="Agrandir"/>
                  <a:cs typeface="Agrandir"/>
                  <a:sym typeface="Agrandir"/>
                </a:rPr>
                <a:t>JWT con límite de intentos de login, protección de rutas por rol, rel="noreferrer" en enlaces externos y registro de auditoría de todas las operaciones.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146727" y="4082791"/>
            <a:ext cx="7807175" cy="1299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23"/>
              </a:lnSpc>
            </a:pPr>
            <a:r>
              <a:rPr lang="en-US" sz="1839">
                <a:solidFill>
                  <a:srgbClr val="342D47"/>
                </a:solidFill>
                <a:latin typeface="Agrandir"/>
                <a:ea typeface="Agrandir"/>
                <a:cs typeface="Agrandir"/>
                <a:sym typeface="Agrandir"/>
              </a:rPr>
              <a:t>La plataforma utiliza una arquitectura moderna de tres capas: un frontend React 18 con diseño responsivo, un backend Python FastAPI con API REST documentada, y una base de datos MongoDB. Diseño adaptable a cualquier dispositivo, con seguridad robusta mediante JWT y bcrypt.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784053" y="1028700"/>
            <a:ext cx="987259" cy="982322"/>
          </a:xfrm>
          <a:custGeom>
            <a:avLst/>
            <a:gdLst/>
            <a:ahLst/>
            <a:cxnLst/>
            <a:rect r="r" b="b" t="t" l="l"/>
            <a:pathLst>
              <a:path h="982322" w="987259">
                <a:moveTo>
                  <a:pt x="0" y="0"/>
                </a:moveTo>
                <a:lnTo>
                  <a:pt x="987258" y="0"/>
                </a:lnTo>
                <a:lnTo>
                  <a:pt x="987258" y="982322"/>
                </a:lnTo>
                <a:lnTo>
                  <a:pt x="0" y="9823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239714" y="-375439"/>
            <a:ext cx="7517585" cy="7729320"/>
            <a:chOff x="0" y="0"/>
            <a:chExt cx="10023447" cy="10305760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0" t="69" r="0" b="69"/>
            <a:stretch>
              <a:fillRect/>
            </a:stretch>
          </p:blipFill>
          <p:spPr>
            <a:xfrm flipH="false" flipV="false">
              <a:off x="0" y="0"/>
              <a:ext cx="10023447" cy="10305760"/>
            </a:xfrm>
            <a:prstGeom prst="rect">
              <a:avLst/>
            </a:prstGeom>
          </p:spPr>
        </p:pic>
      </p:grpSp>
      <p:sp>
        <p:nvSpPr>
          <p:cNvPr name="TextBox 5" id="5"/>
          <p:cNvSpPr txBox="true"/>
          <p:nvPr/>
        </p:nvSpPr>
        <p:spPr>
          <a:xfrm rot="0">
            <a:off x="1997607" y="1028700"/>
            <a:ext cx="1927686" cy="572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14"/>
              </a:lnSpc>
            </a:pPr>
            <a:r>
              <a:rPr lang="en-US" b="true" sz="2226" spc="-122">
                <a:solidFill>
                  <a:srgbClr val="342D47"/>
                </a:solidFill>
                <a:latin typeface="Agrandir Bold"/>
                <a:ea typeface="Agrandir Bold"/>
                <a:cs typeface="Agrandir Bold"/>
                <a:sym typeface="Agrandir Bold"/>
              </a:rPr>
              <a:t>BIBLIOTECA ESCOLAR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7802891"/>
            <a:ext cx="9305748" cy="1433242"/>
            <a:chOff x="0" y="0"/>
            <a:chExt cx="12407664" cy="191099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363992"/>
              <a:ext cx="3851860" cy="9163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806"/>
                </a:lnSpc>
              </a:pPr>
              <a:r>
                <a:rPr lang="en-US" sz="4147">
                  <a:solidFill>
                    <a:srgbClr val="342D47"/>
                  </a:solidFill>
                  <a:latin typeface="Staatliches"/>
                  <a:ea typeface="Staatliches"/>
                  <a:cs typeface="Staatliches"/>
                  <a:sym typeface="Staatliches"/>
                </a:rPr>
                <a:t>bcrypt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92468" y="1403093"/>
              <a:ext cx="3466924" cy="5078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91"/>
                </a:lnSpc>
              </a:pPr>
              <a:r>
                <a:rPr lang="en-US" sz="2065">
                  <a:solidFill>
                    <a:srgbClr val="342D47"/>
                  </a:solidFill>
                  <a:latin typeface="Agrandir"/>
                  <a:ea typeface="Agrandir"/>
                  <a:cs typeface="Agrandir"/>
                  <a:sym typeface="Agrandir"/>
                </a:rPr>
                <a:t>Hash de contraseñas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-95250"/>
              <a:ext cx="3851860" cy="5078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91"/>
                </a:lnSpc>
              </a:pPr>
              <a:r>
                <a:rPr lang="en-US" sz="2065">
                  <a:solidFill>
                    <a:srgbClr val="342D47"/>
                  </a:solidFill>
                  <a:latin typeface="Agrandir"/>
                  <a:ea typeface="Agrandir"/>
                  <a:cs typeface="Agrandir"/>
                  <a:sym typeface="Agrandir"/>
                </a:rPr>
                <a:t>Autenticación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4405848" y="363992"/>
              <a:ext cx="3663061" cy="9163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806"/>
                </a:lnSpc>
              </a:pPr>
              <a:r>
                <a:rPr lang="en-US" sz="4147">
                  <a:solidFill>
                    <a:srgbClr val="342D47"/>
                  </a:solidFill>
                  <a:latin typeface="Staatliches"/>
                  <a:ea typeface="Staatliches"/>
                  <a:cs typeface="Staatliches"/>
                  <a:sym typeface="Staatliches"/>
                </a:rPr>
                <a:t>JWT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4463722" y="1403093"/>
              <a:ext cx="3547314" cy="5078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91"/>
                </a:lnSpc>
              </a:pPr>
              <a:r>
                <a:rPr lang="en-US" sz="2065">
                  <a:solidFill>
                    <a:srgbClr val="342D47"/>
                  </a:solidFill>
                  <a:latin typeface="Agrandir"/>
                  <a:ea typeface="Agrandir"/>
                  <a:cs typeface="Agrandir"/>
                  <a:sym typeface="Agrandir"/>
                </a:rPr>
                <a:t>Tokens seguros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8613816" y="363992"/>
              <a:ext cx="3735837" cy="9163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806"/>
                </a:lnSpc>
              </a:pPr>
              <a:r>
                <a:rPr lang="en-US" sz="4147">
                  <a:solidFill>
                    <a:srgbClr val="342D47"/>
                  </a:solidFill>
                  <a:latin typeface="Staatliches"/>
                  <a:ea typeface="Staatliches"/>
                  <a:cs typeface="Staatliches"/>
                  <a:sym typeface="Staatliches"/>
                </a:rPr>
                <a:t>100%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8784248" y="1403093"/>
              <a:ext cx="3394972" cy="5078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91"/>
                </a:lnSpc>
              </a:pPr>
              <a:r>
                <a:rPr lang="en-US" sz="2065">
                  <a:solidFill>
                    <a:srgbClr val="342D47"/>
                  </a:solidFill>
                  <a:latin typeface="Agrandir"/>
                  <a:ea typeface="Agrandir"/>
                  <a:cs typeface="Agrandir"/>
                  <a:sym typeface="Agrandir"/>
                </a:rPr>
                <a:t>Auditoría total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4311449" y="-95250"/>
              <a:ext cx="3851860" cy="5078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91"/>
                </a:lnSpc>
              </a:pPr>
              <a:r>
                <a:rPr lang="en-US" sz="2065">
                  <a:solidFill>
                    <a:srgbClr val="342D47"/>
                  </a:solidFill>
                  <a:latin typeface="Agrandir"/>
                  <a:ea typeface="Agrandir"/>
                  <a:cs typeface="Agrandir"/>
                  <a:sym typeface="Agrandir"/>
                </a:rPr>
                <a:t>Control de Acceso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8555804" y="-95250"/>
              <a:ext cx="3851860" cy="5078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91"/>
                </a:lnSpc>
              </a:pPr>
              <a:r>
                <a:rPr lang="en-US" sz="2065">
                  <a:solidFill>
                    <a:srgbClr val="342D47"/>
                  </a:solidFill>
                  <a:latin typeface="Agrandir"/>
                  <a:ea typeface="Agrandir"/>
                  <a:cs typeface="Agrandir"/>
                  <a:sym typeface="Agrandir"/>
                </a:rPr>
                <a:t>Protección de Rutas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522950" y="7764791"/>
            <a:ext cx="6736350" cy="1493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71"/>
              </a:lnSpc>
            </a:pPr>
            <a:r>
              <a:rPr lang="en-US" sz="2064">
                <a:solidFill>
                  <a:srgbClr val="342D47"/>
                </a:solidFill>
                <a:latin typeface="Agrandir"/>
                <a:ea typeface="Agrandir"/>
                <a:cs typeface="Agrandir"/>
                <a:sym typeface="Agrandir"/>
              </a:rPr>
              <a:t>Contraseñas cifradas con bcrypt. Autenticación mediante JWT con límite de intentos de login. Rutas protegidas por rol institucional, auditoría completa de acciones y accesos. Enlaces externos con rel="noreferrer" para mayor seguridad.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2830639"/>
            <a:ext cx="9494250" cy="4971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710"/>
              </a:lnSpc>
            </a:pPr>
            <a:r>
              <a:rPr lang="en-US" sz="21756" spc="-1196">
                <a:solidFill>
                  <a:srgbClr val="342D47"/>
                </a:solidFill>
                <a:latin typeface="Staatliches"/>
                <a:ea typeface="Staatliches"/>
                <a:cs typeface="Staatliches"/>
                <a:sym typeface="Staatliches"/>
              </a:rPr>
              <a:t>SEGURIDAD Y DATOS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881918" y="618775"/>
            <a:ext cx="987259" cy="982322"/>
          </a:xfrm>
          <a:custGeom>
            <a:avLst/>
            <a:gdLst/>
            <a:ahLst/>
            <a:cxnLst/>
            <a:rect r="r" b="b" t="t" l="l"/>
            <a:pathLst>
              <a:path h="982322" w="987259">
                <a:moveTo>
                  <a:pt x="0" y="0"/>
                </a:moveTo>
                <a:lnTo>
                  <a:pt x="987258" y="0"/>
                </a:lnTo>
                <a:lnTo>
                  <a:pt x="987258" y="982322"/>
                </a:lnTo>
                <a:lnTo>
                  <a:pt x="0" y="9823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417578" y="1382882"/>
            <a:ext cx="9389102" cy="3421430"/>
            <a:chOff x="0" y="0"/>
            <a:chExt cx="12518803" cy="4561906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0" t="421" r="0" b="421"/>
            <a:stretch>
              <a:fillRect/>
            </a:stretch>
          </p:blipFill>
          <p:spPr>
            <a:xfrm flipH="false" flipV="false">
              <a:off x="0" y="0"/>
              <a:ext cx="12518803" cy="4561906"/>
            </a:xfrm>
            <a:prstGeom prst="rect">
              <a:avLst/>
            </a:prstGeom>
          </p:spPr>
        </p:pic>
      </p:grpSp>
      <p:grpSp>
        <p:nvGrpSpPr>
          <p:cNvPr name="Group 5" id="5"/>
          <p:cNvGrpSpPr/>
          <p:nvPr/>
        </p:nvGrpSpPr>
        <p:grpSpPr>
          <a:xfrm rot="0">
            <a:off x="1028700" y="5574897"/>
            <a:ext cx="5089239" cy="3683403"/>
            <a:chOff x="0" y="0"/>
            <a:chExt cx="1340376" cy="9701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40376" cy="970115"/>
            </a:xfrm>
            <a:custGeom>
              <a:avLst/>
              <a:gdLst/>
              <a:ahLst/>
              <a:cxnLst/>
              <a:rect r="r" b="b" t="t" l="l"/>
              <a:pathLst>
                <a:path h="970115" w="1340376">
                  <a:moveTo>
                    <a:pt x="41073" y="0"/>
                  </a:moveTo>
                  <a:lnTo>
                    <a:pt x="1299302" y="0"/>
                  </a:lnTo>
                  <a:cubicBezTo>
                    <a:pt x="1321987" y="0"/>
                    <a:pt x="1340376" y="18389"/>
                    <a:pt x="1340376" y="41073"/>
                  </a:cubicBezTo>
                  <a:lnTo>
                    <a:pt x="1340376" y="929041"/>
                  </a:lnTo>
                  <a:cubicBezTo>
                    <a:pt x="1340376" y="951725"/>
                    <a:pt x="1321987" y="970115"/>
                    <a:pt x="1299302" y="970115"/>
                  </a:cubicBezTo>
                  <a:lnTo>
                    <a:pt x="41073" y="970115"/>
                  </a:lnTo>
                  <a:cubicBezTo>
                    <a:pt x="18389" y="970115"/>
                    <a:pt x="0" y="951725"/>
                    <a:pt x="0" y="929041"/>
                  </a:cubicBezTo>
                  <a:lnTo>
                    <a:pt x="0" y="41073"/>
                  </a:lnTo>
                  <a:cubicBezTo>
                    <a:pt x="0" y="18389"/>
                    <a:pt x="18389" y="0"/>
                    <a:pt x="41073" y="0"/>
                  </a:cubicBezTo>
                  <a:close/>
                </a:path>
              </a:pathLst>
            </a:custGeom>
            <a:solidFill>
              <a:srgbClr val="342D4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340376" cy="10177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0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599380" y="5574897"/>
            <a:ext cx="5089239" cy="3683403"/>
            <a:chOff x="0" y="0"/>
            <a:chExt cx="1340376" cy="97011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40376" cy="970115"/>
            </a:xfrm>
            <a:custGeom>
              <a:avLst/>
              <a:gdLst/>
              <a:ahLst/>
              <a:cxnLst/>
              <a:rect r="r" b="b" t="t" l="l"/>
              <a:pathLst>
                <a:path h="970115" w="1340376">
                  <a:moveTo>
                    <a:pt x="41073" y="0"/>
                  </a:moveTo>
                  <a:lnTo>
                    <a:pt x="1299302" y="0"/>
                  </a:lnTo>
                  <a:cubicBezTo>
                    <a:pt x="1321987" y="0"/>
                    <a:pt x="1340376" y="18389"/>
                    <a:pt x="1340376" y="41073"/>
                  </a:cubicBezTo>
                  <a:lnTo>
                    <a:pt x="1340376" y="929041"/>
                  </a:lnTo>
                  <a:cubicBezTo>
                    <a:pt x="1340376" y="951725"/>
                    <a:pt x="1321987" y="970115"/>
                    <a:pt x="1299302" y="970115"/>
                  </a:cubicBezTo>
                  <a:lnTo>
                    <a:pt x="41073" y="970115"/>
                  </a:lnTo>
                  <a:cubicBezTo>
                    <a:pt x="18389" y="970115"/>
                    <a:pt x="0" y="951725"/>
                    <a:pt x="0" y="929041"/>
                  </a:cubicBezTo>
                  <a:lnTo>
                    <a:pt x="0" y="41073"/>
                  </a:lnTo>
                  <a:cubicBezTo>
                    <a:pt x="0" y="18389"/>
                    <a:pt x="18389" y="0"/>
                    <a:pt x="41073" y="0"/>
                  </a:cubicBezTo>
                  <a:close/>
                </a:path>
              </a:pathLst>
            </a:custGeom>
            <a:solidFill>
              <a:srgbClr val="96B7C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340376" cy="10177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0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8700" y="3005634"/>
            <a:ext cx="7323234" cy="2212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2"/>
              </a:lnSpc>
            </a:pPr>
            <a:r>
              <a:rPr lang="en-US" sz="9759" spc="-536">
                <a:solidFill>
                  <a:srgbClr val="342D47"/>
                </a:solidFill>
                <a:latin typeface="Staatliches"/>
                <a:ea typeface="Staatliches"/>
                <a:cs typeface="Staatliches"/>
                <a:sym typeface="Staatliches"/>
              </a:rPr>
              <a:t>VENTAJAS COMPETITIVAS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2170061" y="5574897"/>
            <a:ext cx="5089239" cy="3683403"/>
            <a:chOff x="0" y="0"/>
            <a:chExt cx="1340376" cy="97011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40376" cy="970115"/>
            </a:xfrm>
            <a:custGeom>
              <a:avLst/>
              <a:gdLst/>
              <a:ahLst/>
              <a:cxnLst/>
              <a:rect r="r" b="b" t="t" l="l"/>
              <a:pathLst>
                <a:path h="970115" w="1340376">
                  <a:moveTo>
                    <a:pt x="41073" y="0"/>
                  </a:moveTo>
                  <a:lnTo>
                    <a:pt x="1299302" y="0"/>
                  </a:lnTo>
                  <a:cubicBezTo>
                    <a:pt x="1321987" y="0"/>
                    <a:pt x="1340376" y="18389"/>
                    <a:pt x="1340376" y="41073"/>
                  </a:cubicBezTo>
                  <a:lnTo>
                    <a:pt x="1340376" y="929041"/>
                  </a:lnTo>
                  <a:cubicBezTo>
                    <a:pt x="1340376" y="951725"/>
                    <a:pt x="1321987" y="970115"/>
                    <a:pt x="1299302" y="970115"/>
                  </a:cubicBezTo>
                  <a:lnTo>
                    <a:pt x="41073" y="970115"/>
                  </a:lnTo>
                  <a:cubicBezTo>
                    <a:pt x="18389" y="970115"/>
                    <a:pt x="0" y="951725"/>
                    <a:pt x="0" y="929041"/>
                  </a:cubicBezTo>
                  <a:lnTo>
                    <a:pt x="0" y="41073"/>
                  </a:lnTo>
                  <a:cubicBezTo>
                    <a:pt x="0" y="18389"/>
                    <a:pt x="18389" y="0"/>
                    <a:pt x="41073" y="0"/>
                  </a:cubicBezTo>
                  <a:close/>
                </a:path>
              </a:pathLst>
            </a:custGeom>
            <a:solidFill>
              <a:srgbClr val="342D47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340376" cy="10177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0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7516359" y="7196573"/>
            <a:ext cx="3255282" cy="1042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77"/>
              </a:lnSpc>
            </a:pPr>
            <a:r>
              <a:rPr lang="en-US" sz="1797">
                <a:solidFill>
                  <a:srgbClr val="342D47"/>
                </a:solidFill>
                <a:latin typeface="Agrandir"/>
                <a:ea typeface="Agrandir"/>
                <a:cs typeface="Agrandir"/>
                <a:sym typeface="Agrandir"/>
              </a:rPr>
              <a:t>Menor curva de aprendizaje, coste reducido y foco específico en recursos bibliotecarios escolares.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516359" y="6299324"/>
            <a:ext cx="3255282" cy="360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07"/>
              </a:lnSpc>
            </a:pPr>
            <a:r>
              <a:rPr lang="en-US" b="true" sz="2097">
                <a:solidFill>
                  <a:srgbClr val="342D47"/>
                </a:solidFill>
                <a:latin typeface="Agrandir Bold"/>
                <a:ea typeface="Agrandir Bold"/>
                <a:cs typeface="Agrandir Bold"/>
                <a:sym typeface="Agrandir Bold"/>
              </a:rPr>
              <a:t>vs LMS Completo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945678" y="7196573"/>
            <a:ext cx="3255282" cy="1042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77"/>
              </a:lnSpc>
            </a:pPr>
            <a:r>
              <a:rPr lang="en-US" sz="1797">
                <a:solidFill>
                  <a:srgbClr val="F5F7F8"/>
                </a:solidFill>
                <a:latin typeface="Agrandir"/>
                <a:ea typeface="Agrandir"/>
                <a:cs typeface="Agrandir"/>
                <a:sym typeface="Agrandir"/>
              </a:rPr>
              <a:t>Estructura visual organizada, búsqueda avanzada, roles diferenciados y trazabilidad completa de operaciones.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945678" y="6299324"/>
            <a:ext cx="3255282" cy="360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07"/>
              </a:lnSpc>
            </a:pPr>
            <a:r>
              <a:rPr lang="en-US" b="true" sz="2097">
                <a:solidFill>
                  <a:srgbClr val="F5F7F8"/>
                </a:solidFill>
                <a:latin typeface="Agrandir Bold"/>
                <a:ea typeface="Agrandir Bold"/>
                <a:cs typeface="Agrandir Bold"/>
                <a:sym typeface="Agrandir Bold"/>
              </a:rPr>
              <a:t>vs Carpeta Compartida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087039" y="7196573"/>
            <a:ext cx="3255282" cy="1042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77"/>
              </a:lnSpc>
            </a:pPr>
            <a:r>
              <a:rPr lang="en-US" sz="1797">
                <a:solidFill>
                  <a:srgbClr val="F5F7F8"/>
                </a:solidFill>
                <a:latin typeface="Agrandir"/>
                <a:ea typeface="Agrandir"/>
                <a:cs typeface="Agrandir"/>
                <a:sym typeface="Agrandir"/>
              </a:rPr>
              <a:t>Actualización de contenido sin código, autenticación segura, auditoría de accesos y gestión de roles.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087039" y="6299324"/>
            <a:ext cx="3255282" cy="360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07"/>
              </a:lnSpc>
            </a:pPr>
            <a:r>
              <a:rPr lang="en-US" b="true" sz="2097">
                <a:solidFill>
                  <a:srgbClr val="F5F7F8"/>
                </a:solidFill>
                <a:latin typeface="Agrandir Bold"/>
                <a:ea typeface="Agrandir Bold"/>
                <a:cs typeface="Agrandir Bold"/>
                <a:sym typeface="Agrandir Bold"/>
              </a:rPr>
              <a:t>vs Sitio Estático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997607" y="1028700"/>
            <a:ext cx="1927686" cy="572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14"/>
              </a:lnSpc>
            </a:pPr>
            <a:r>
              <a:rPr lang="en-US" b="true" sz="2226" spc="-122">
                <a:solidFill>
                  <a:srgbClr val="342D47"/>
                </a:solidFill>
                <a:latin typeface="Agrandir Bold"/>
                <a:ea typeface="Agrandir Bold"/>
                <a:cs typeface="Agrandir Bold"/>
                <a:sym typeface="Agrandir Bold"/>
              </a:rPr>
              <a:t>BIBLIOTECA ESCOLAR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881918" y="618775"/>
            <a:ext cx="987259" cy="982322"/>
          </a:xfrm>
          <a:custGeom>
            <a:avLst/>
            <a:gdLst/>
            <a:ahLst/>
            <a:cxnLst/>
            <a:rect r="r" b="b" t="t" l="l"/>
            <a:pathLst>
              <a:path h="982322" w="987259">
                <a:moveTo>
                  <a:pt x="0" y="0"/>
                </a:moveTo>
                <a:lnTo>
                  <a:pt x="987258" y="0"/>
                </a:lnTo>
                <a:lnTo>
                  <a:pt x="987258" y="982322"/>
                </a:lnTo>
                <a:lnTo>
                  <a:pt x="0" y="9823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065069"/>
            <a:ext cx="10659920" cy="1796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830"/>
              </a:lnSpc>
            </a:pPr>
            <a:r>
              <a:rPr lang="en-US" sz="14918" spc="-820">
                <a:solidFill>
                  <a:srgbClr val="342D47"/>
                </a:solidFill>
                <a:latin typeface="Staatliches"/>
                <a:ea typeface="Staatliches"/>
                <a:cs typeface="Staatliches"/>
                <a:sym typeface="Staatliches"/>
              </a:rPr>
              <a:t>MODELO DE OFERTA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5440492"/>
            <a:ext cx="8371809" cy="527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32"/>
              </a:lnSpc>
            </a:pPr>
            <a:r>
              <a:rPr lang="en-US" sz="1757">
                <a:solidFill>
                  <a:srgbClr val="342D47"/>
                </a:solidFill>
                <a:latin typeface="Agrandir"/>
                <a:ea typeface="Agrandir"/>
                <a:cs typeface="Agrandir"/>
                <a:sym typeface="Agrandir"/>
              </a:rPr>
              <a:t>Paquetes comerciales diseñados para acompañar a su institución en cada etapa: desde el lanzamiento hasta la evolución avanzada de su biblioteca digital.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8700" y="6916637"/>
            <a:ext cx="5089239" cy="2341663"/>
            <a:chOff x="0" y="0"/>
            <a:chExt cx="1340376" cy="61673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40376" cy="616734"/>
            </a:xfrm>
            <a:custGeom>
              <a:avLst/>
              <a:gdLst/>
              <a:ahLst/>
              <a:cxnLst/>
              <a:rect r="r" b="b" t="t" l="l"/>
              <a:pathLst>
                <a:path h="616734" w="1340376">
                  <a:moveTo>
                    <a:pt x="41073" y="0"/>
                  </a:moveTo>
                  <a:lnTo>
                    <a:pt x="1299302" y="0"/>
                  </a:lnTo>
                  <a:cubicBezTo>
                    <a:pt x="1321987" y="0"/>
                    <a:pt x="1340376" y="18389"/>
                    <a:pt x="1340376" y="41073"/>
                  </a:cubicBezTo>
                  <a:lnTo>
                    <a:pt x="1340376" y="575661"/>
                  </a:lnTo>
                  <a:cubicBezTo>
                    <a:pt x="1340376" y="598345"/>
                    <a:pt x="1321987" y="616734"/>
                    <a:pt x="1299302" y="616734"/>
                  </a:cubicBezTo>
                  <a:lnTo>
                    <a:pt x="41073" y="616734"/>
                  </a:lnTo>
                  <a:cubicBezTo>
                    <a:pt x="18389" y="616734"/>
                    <a:pt x="0" y="598345"/>
                    <a:pt x="0" y="575661"/>
                  </a:cubicBezTo>
                  <a:lnTo>
                    <a:pt x="0" y="41073"/>
                  </a:lnTo>
                  <a:cubicBezTo>
                    <a:pt x="0" y="18389"/>
                    <a:pt x="18389" y="0"/>
                    <a:pt x="41073" y="0"/>
                  </a:cubicBezTo>
                  <a:close/>
                </a:path>
              </a:pathLst>
            </a:custGeom>
            <a:solidFill>
              <a:srgbClr val="342D4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340376" cy="6643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0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599380" y="6916637"/>
            <a:ext cx="5089239" cy="2341663"/>
            <a:chOff x="0" y="0"/>
            <a:chExt cx="1340376" cy="6167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40376" cy="616734"/>
            </a:xfrm>
            <a:custGeom>
              <a:avLst/>
              <a:gdLst/>
              <a:ahLst/>
              <a:cxnLst/>
              <a:rect r="r" b="b" t="t" l="l"/>
              <a:pathLst>
                <a:path h="616734" w="1340376">
                  <a:moveTo>
                    <a:pt x="41073" y="0"/>
                  </a:moveTo>
                  <a:lnTo>
                    <a:pt x="1299302" y="0"/>
                  </a:lnTo>
                  <a:cubicBezTo>
                    <a:pt x="1321987" y="0"/>
                    <a:pt x="1340376" y="18389"/>
                    <a:pt x="1340376" y="41073"/>
                  </a:cubicBezTo>
                  <a:lnTo>
                    <a:pt x="1340376" y="575661"/>
                  </a:lnTo>
                  <a:cubicBezTo>
                    <a:pt x="1340376" y="598345"/>
                    <a:pt x="1321987" y="616734"/>
                    <a:pt x="1299302" y="616734"/>
                  </a:cubicBezTo>
                  <a:lnTo>
                    <a:pt x="41073" y="616734"/>
                  </a:lnTo>
                  <a:cubicBezTo>
                    <a:pt x="18389" y="616734"/>
                    <a:pt x="0" y="598345"/>
                    <a:pt x="0" y="575661"/>
                  </a:cubicBezTo>
                  <a:lnTo>
                    <a:pt x="0" y="41073"/>
                  </a:lnTo>
                  <a:cubicBezTo>
                    <a:pt x="0" y="18389"/>
                    <a:pt x="18389" y="0"/>
                    <a:pt x="41073" y="0"/>
                  </a:cubicBezTo>
                  <a:close/>
                </a:path>
              </a:pathLst>
            </a:custGeom>
            <a:solidFill>
              <a:srgbClr val="342D4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340376" cy="6643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0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170061" y="6916637"/>
            <a:ext cx="5089239" cy="2341663"/>
            <a:chOff x="0" y="0"/>
            <a:chExt cx="1340376" cy="61673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40376" cy="616734"/>
            </a:xfrm>
            <a:custGeom>
              <a:avLst/>
              <a:gdLst/>
              <a:ahLst/>
              <a:cxnLst/>
              <a:rect r="r" b="b" t="t" l="l"/>
              <a:pathLst>
                <a:path h="616734" w="1340376">
                  <a:moveTo>
                    <a:pt x="41073" y="0"/>
                  </a:moveTo>
                  <a:lnTo>
                    <a:pt x="1299302" y="0"/>
                  </a:lnTo>
                  <a:cubicBezTo>
                    <a:pt x="1321987" y="0"/>
                    <a:pt x="1340376" y="18389"/>
                    <a:pt x="1340376" y="41073"/>
                  </a:cubicBezTo>
                  <a:lnTo>
                    <a:pt x="1340376" y="575661"/>
                  </a:lnTo>
                  <a:cubicBezTo>
                    <a:pt x="1340376" y="598345"/>
                    <a:pt x="1321987" y="616734"/>
                    <a:pt x="1299302" y="616734"/>
                  </a:cubicBezTo>
                  <a:lnTo>
                    <a:pt x="41073" y="616734"/>
                  </a:lnTo>
                  <a:cubicBezTo>
                    <a:pt x="18389" y="616734"/>
                    <a:pt x="0" y="598345"/>
                    <a:pt x="0" y="575661"/>
                  </a:cubicBezTo>
                  <a:lnTo>
                    <a:pt x="0" y="41073"/>
                  </a:lnTo>
                  <a:cubicBezTo>
                    <a:pt x="0" y="18389"/>
                    <a:pt x="18389" y="0"/>
                    <a:pt x="41073" y="0"/>
                  </a:cubicBezTo>
                  <a:close/>
                </a:path>
              </a:pathLst>
            </a:custGeom>
            <a:solidFill>
              <a:srgbClr val="342D4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340376" cy="6643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0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170061" y="4084351"/>
            <a:ext cx="5089239" cy="2341663"/>
            <a:chOff x="0" y="0"/>
            <a:chExt cx="1340376" cy="61673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40376" cy="616734"/>
            </a:xfrm>
            <a:custGeom>
              <a:avLst/>
              <a:gdLst/>
              <a:ahLst/>
              <a:cxnLst/>
              <a:rect r="r" b="b" t="t" l="l"/>
              <a:pathLst>
                <a:path h="616734" w="1340376">
                  <a:moveTo>
                    <a:pt x="41073" y="0"/>
                  </a:moveTo>
                  <a:lnTo>
                    <a:pt x="1299302" y="0"/>
                  </a:lnTo>
                  <a:cubicBezTo>
                    <a:pt x="1321987" y="0"/>
                    <a:pt x="1340376" y="18389"/>
                    <a:pt x="1340376" y="41073"/>
                  </a:cubicBezTo>
                  <a:lnTo>
                    <a:pt x="1340376" y="575661"/>
                  </a:lnTo>
                  <a:cubicBezTo>
                    <a:pt x="1340376" y="598345"/>
                    <a:pt x="1321987" y="616734"/>
                    <a:pt x="1299302" y="616734"/>
                  </a:cubicBezTo>
                  <a:lnTo>
                    <a:pt x="41073" y="616734"/>
                  </a:lnTo>
                  <a:cubicBezTo>
                    <a:pt x="18389" y="616734"/>
                    <a:pt x="0" y="598345"/>
                    <a:pt x="0" y="575661"/>
                  </a:cubicBezTo>
                  <a:lnTo>
                    <a:pt x="0" y="41073"/>
                  </a:lnTo>
                  <a:cubicBezTo>
                    <a:pt x="0" y="18389"/>
                    <a:pt x="18389" y="0"/>
                    <a:pt x="41073" y="0"/>
                  </a:cubicBezTo>
                  <a:close/>
                </a:path>
              </a:pathLst>
            </a:custGeom>
            <a:solidFill>
              <a:srgbClr val="342D47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340376" cy="6643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0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52391" y="7343577"/>
            <a:ext cx="4241857" cy="1279690"/>
            <a:chOff x="0" y="0"/>
            <a:chExt cx="5655809" cy="1706254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534578"/>
              <a:ext cx="5655809" cy="11716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656"/>
                </a:lnSpc>
              </a:pPr>
              <a:r>
                <a:rPr lang="en-US" sz="1505">
                  <a:solidFill>
                    <a:srgbClr val="F5F7F8"/>
                  </a:solidFill>
                  <a:latin typeface="Agrandir"/>
                  <a:ea typeface="Agrandir"/>
                  <a:cs typeface="Agrandir"/>
                  <a:sym typeface="Agrandir"/>
                </a:rPr>
                <a:t>Instalación y configuración de la plataforma, personalización visual con logo y colores institucionales, carga de recursos y capacitación para el personal autorizado.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657716" y="-28575"/>
              <a:ext cx="4340377" cy="3758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932"/>
                </a:lnSpc>
              </a:pPr>
              <a:r>
                <a:rPr lang="en-US" b="true" sz="1757">
                  <a:solidFill>
                    <a:srgbClr val="F5F7F8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Implementación Inicial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023072" y="7343577"/>
            <a:ext cx="4241857" cy="1279690"/>
            <a:chOff x="0" y="0"/>
            <a:chExt cx="5655809" cy="1706254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534578"/>
              <a:ext cx="5655809" cy="11716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656"/>
                </a:lnSpc>
              </a:pPr>
              <a:r>
                <a:rPr lang="en-US" sz="1505">
                  <a:solidFill>
                    <a:srgbClr val="F5F7F8"/>
                  </a:solidFill>
                  <a:latin typeface="Agrandir"/>
                  <a:ea typeface="Agrandir"/>
                  <a:cs typeface="Agrandir"/>
                  <a:sym typeface="Agrandir"/>
                </a:rPr>
                <a:t>Monitoreo continuo, copias de seguridad periódicas, actualizaciones del sistema y mesa de ayuda para garantizar disponibilidad y estabilidad de la plataforma.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657716" y="-28575"/>
              <a:ext cx="4340377" cy="3758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932"/>
                </a:lnSpc>
              </a:pPr>
              <a:r>
                <a:rPr lang="en-US" b="true" sz="1757">
                  <a:solidFill>
                    <a:srgbClr val="F5F7F8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Operación y Soporte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593752" y="7343577"/>
            <a:ext cx="4241857" cy="1279690"/>
            <a:chOff x="0" y="0"/>
            <a:chExt cx="5655809" cy="1706254"/>
          </a:xfrm>
        </p:grpSpPr>
        <p:sp>
          <p:nvSpPr>
            <p:cNvPr name="TextBox 24" id="24"/>
            <p:cNvSpPr txBox="true"/>
            <p:nvPr/>
          </p:nvSpPr>
          <p:spPr>
            <a:xfrm rot="0">
              <a:off x="0" y="534578"/>
              <a:ext cx="5655809" cy="11716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656"/>
                </a:lnSpc>
              </a:pPr>
              <a:r>
                <a:rPr lang="en-US" sz="1505">
                  <a:solidFill>
                    <a:srgbClr val="F5F7F8"/>
                  </a:solidFill>
                  <a:latin typeface="Agrandir"/>
                  <a:ea typeface="Agrandir"/>
                  <a:cs typeface="Agrandir"/>
                  <a:sym typeface="Agrandir"/>
                </a:rPr>
                <a:t>Diseño a medida, configuración de roles y flujos institucionales, integraciones específicas y adaptaciones funcionales según las necesidades del colegio.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657716" y="-28575"/>
              <a:ext cx="4340377" cy="3758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932"/>
                </a:lnSpc>
              </a:pPr>
              <a:r>
                <a:rPr lang="en-US" b="true" sz="1757">
                  <a:solidFill>
                    <a:srgbClr val="F5F7F8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Personalización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593752" y="4511290"/>
            <a:ext cx="4241857" cy="1279690"/>
            <a:chOff x="0" y="0"/>
            <a:chExt cx="5655809" cy="1706254"/>
          </a:xfrm>
        </p:grpSpPr>
        <p:sp>
          <p:nvSpPr>
            <p:cNvPr name="TextBox 27" id="27"/>
            <p:cNvSpPr txBox="true"/>
            <p:nvPr/>
          </p:nvSpPr>
          <p:spPr>
            <a:xfrm rot="0">
              <a:off x="0" y="534578"/>
              <a:ext cx="5655809" cy="11716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656"/>
                </a:lnSpc>
              </a:pPr>
              <a:r>
                <a:rPr lang="en-US" sz="1505">
                  <a:solidFill>
                    <a:srgbClr val="F5F7F8"/>
                  </a:solidFill>
                  <a:latin typeface="Agrandir"/>
                  <a:ea typeface="Agrandir"/>
                  <a:cs typeface="Agrandir"/>
                  <a:sym typeface="Agrandir"/>
                </a:rPr>
                <a:t>SSO institucional, analítica de uso, módulo de préstamos, integraciones con LMS, notificaciones y aplicación móvil para una experiencia completa.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657716" y="-28575"/>
              <a:ext cx="4340377" cy="3758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932"/>
                </a:lnSpc>
              </a:pPr>
              <a:r>
                <a:rPr lang="en-US" b="true" sz="1757">
                  <a:solidFill>
                    <a:srgbClr val="F5F7F8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Evolución Avanzada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170061" y="1028700"/>
            <a:ext cx="5089239" cy="2837460"/>
            <a:chOff x="0" y="0"/>
            <a:chExt cx="6785652" cy="3783280"/>
          </a:xfrm>
        </p:grpSpPr>
        <p:pic>
          <p:nvPicPr>
            <p:cNvPr name="Picture 30" id="30"/>
            <p:cNvPicPr>
              <a:picLocks noChangeAspect="true"/>
            </p:cNvPicPr>
            <p:nvPr/>
          </p:nvPicPr>
          <p:blipFill>
            <a:blip r:embed="rId3"/>
            <a:srcRect l="339" t="0" r="339" b="0"/>
            <a:stretch>
              <a:fillRect/>
            </a:stretch>
          </p:blipFill>
          <p:spPr>
            <a:xfrm flipH="false" flipV="false">
              <a:off x="0" y="0"/>
              <a:ext cx="6785652" cy="3783280"/>
            </a:xfrm>
            <a:prstGeom prst="rect">
              <a:avLst/>
            </a:prstGeom>
          </p:spPr>
        </p:pic>
      </p:grpSp>
      <p:sp>
        <p:nvSpPr>
          <p:cNvPr name="TextBox 31" id="31"/>
          <p:cNvSpPr txBox="true"/>
          <p:nvPr/>
        </p:nvSpPr>
        <p:spPr>
          <a:xfrm rot="0">
            <a:off x="1997607" y="1028700"/>
            <a:ext cx="1927686" cy="572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14"/>
              </a:lnSpc>
            </a:pPr>
            <a:r>
              <a:rPr lang="en-US" b="true" sz="2226" spc="-122">
                <a:solidFill>
                  <a:srgbClr val="342D47"/>
                </a:solidFill>
                <a:latin typeface="Agrandir Bold"/>
                <a:ea typeface="Agrandir Bold"/>
                <a:cs typeface="Agrandir Bold"/>
                <a:sym typeface="Agrandir Bold"/>
              </a:rPr>
              <a:t>BIBLIOTECA ESCOLAR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881918" y="618775"/>
            <a:ext cx="987259" cy="982322"/>
          </a:xfrm>
          <a:custGeom>
            <a:avLst/>
            <a:gdLst/>
            <a:ahLst/>
            <a:cxnLst/>
            <a:rect r="r" b="b" t="t" l="l"/>
            <a:pathLst>
              <a:path h="982322" w="987259">
                <a:moveTo>
                  <a:pt x="0" y="0"/>
                </a:moveTo>
                <a:lnTo>
                  <a:pt x="987258" y="0"/>
                </a:lnTo>
                <a:lnTo>
                  <a:pt x="987258" y="982322"/>
                </a:lnTo>
                <a:lnTo>
                  <a:pt x="0" y="9823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396027" y="4450347"/>
            <a:ext cx="13516220" cy="9951007"/>
          </a:xfrm>
          <a:custGeom>
            <a:avLst/>
            <a:gdLst/>
            <a:ahLst/>
            <a:cxnLst/>
            <a:rect r="r" b="b" t="t" l="l"/>
            <a:pathLst>
              <a:path h="9951007" w="13516220">
                <a:moveTo>
                  <a:pt x="0" y="0"/>
                </a:moveTo>
                <a:lnTo>
                  <a:pt x="13516220" y="0"/>
                </a:lnTo>
                <a:lnTo>
                  <a:pt x="13516220" y="9951007"/>
                </a:lnTo>
                <a:lnTo>
                  <a:pt x="0" y="99510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4565989"/>
            <a:ext cx="10822308" cy="287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869"/>
              </a:lnSpc>
            </a:pPr>
            <a:r>
              <a:rPr lang="en-US" sz="12639" spc="-695">
                <a:solidFill>
                  <a:srgbClr val="342D47"/>
                </a:solidFill>
                <a:latin typeface="Staatliches"/>
                <a:ea typeface="Staatliches"/>
                <a:cs typeface="Staatliches"/>
                <a:sym typeface="Staatliches"/>
              </a:rPr>
              <a:t>ROADMAP DE DESARROLLO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7257700"/>
            <a:ext cx="7552353" cy="1129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2"/>
              </a:lnSpc>
            </a:pPr>
            <a:r>
              <a:rPr lang="en-US" sz="1965">
                <a:solidFill>
                  <a:srgbClr val="342D47"/>
                </a:solidFill>
                <a:latin typeface="Agrandir"/>
                <a:ea typeface="Agrandir"/>
                <a:cs typeface="Agrandir"/>
                <a:sym typeface="Agrandir"/>
              </a:rPr>
              <a:t>El desarrollo de Biblioteca Escolar RGB está organizado en tres fases estratégicas que garantizan un lanzamiento sólido, un fortalecimiento progresivo y una evolución hacia funcionalidades premium adaptadas a las necesidades institucionales.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724759" y="4784103"/>
            <a:ext cx="4534541" cy="1149973"/>
            <a:chOff x="0" y="0"/>
            <a:chExt cx="6046055" cy="1533297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6046055" cy="1533297"/>
              <a:chOff x="0" y="0"/>
              <a:chExt cx="898256" cy="227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98256" cy="227800"/>
              </a:xfrm>
              <a:custGeom>
                <a:avLst/>
                <a:gdLst/>
                <a:ahLst/>
                <a:cxnLst/>
                <a:rect r="r" b="b" t="t" l="l"/>
                <a:pathLst>
                  <a:path h="227800" w="898256">
                    <a:moveTo>
                      <a:pt x="0" y="0"/>
                    </a:moveTo>
                    <a:lnTo>
                      <a:pt x="898256" y="0"/>
                    </a:lnTo>
                    <a:lnTo>
                      <a:pt x="898256" y="227800"/>
                    </a:lnTo>
                    <a:lnTo>
                      <a:pt x="0" y="227800"/>
                    </a:lnTo>
                    <a:close/>
                  </a:path>
                </a:pathLst>
              </a:custGeom>
              <a:solidFill>
                <a:srgbClr val="96B7C8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28575"/>
                <a:ext cx="898256" cy="2563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1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591181" y="426054"/>
              <a:ext cx="4863694" cy="9386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925"/>
                </a:lnSpc>
              </a:pPr>
              <a:r>
                <a:rPr lang="en-US" sz="4232">
                  <a:solidFill>
                    <a:srgbClr val="F5F7F8"/>
                  </a:solidFill>
                  <a:latin typeface="Staatliches"/>
                  <a:ea typeface="Staatliches"/>
                  <a:cs typeface="Staatliches"/>
                  <a:sym typeface="Staatliches"/>
                </a:rPr>
                <a:t>Fase 3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713844" y="154144"/>
              <a:ext cx="4618368" cy="3061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091"/>
                </a:lnSpc>
              </a:pPr>
              <a:r>
                <a:rPr lang="en-US" sz="1494">
                  <a:solidFill>
                    <a:srgbClr val="F5F7F8"/>
                  </a:solidFill>
                  <a:latin typeface="Staatliches"/>
                  <a:ea typeface="Staatliches"/>
                  <a:cs typeface="Staatliches"/>
                  <a:sym typeface="Staatliches"/>
                </a:rPr>
                <a:t>Premium: SSO, Analítica e Integraciones LMS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724759" y="3083493"/>
            <a:ext cx="4534541" cy="1149973"/>
            <a:chOff x="0" y="0"/>
            <a:chExt cx="6046055" cy="1533297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6046055" cy="1533297"/>
              <a:chOff x="0" y="0"/>
              <a:chExt cx="898256" cy="227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98256" cy="227800"/>
              </a:xfrm>
              <a:custGeom>
                <a:avLst/>
                <a:gdLst/>
                <a:ahLst/>
                <a:cxnLst/>
                <a:rect r="r" b="b" t="t" l="l"/>
                <a:pathLst>
                  <a:path h="227800" w="898256">
                    <a:moveTo>
                      <a:pt x="0" y="0"/>
                    </a:moveTo>
                    <a:lnTo>
                      <a:pt x="898256" y="0"/>
                    </a:lnTo>
                    <a:lnTo>
                      <a:pt x="898256" y="227800"/>
                    </a:lnTo>
                    <a:lnTo>
                      <a:pt x="0" y="227800"/>
                    </a:lnTo>
                    <a:close/>
                  </a:path>
                </a:pathLst>
              </a:custGeom>
              <a:solidFill>
                <a:srgbClr val="96B7C8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28575"/>
                <a:ext cx="898256" cy="2563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1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565676" y="426054"/>
              <a:ext cx="4914703" cy="9386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925"/>
                </a:lnSpc>
              </a:pPr>
              <a:r>
                <a:rPr lang="en-US" sz="4232">
                  <a:solidFill>
                    <a:srgbClr val="F5F7F8"/>
                  </a:solidFill>
                  <a:latin typeface="Staatliches"/>
                  <a:ea typeface="Staatliches"/>
                  <a:cs typeface="Staatliches"/>
                  <a:sym typeface="Staatliches"/>
                </a:rPr>
                <a:t>Fase 2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295203" y="154144"/>
              <a:ext cx="5455649" cy="3061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091"/>
                </a:lnSpc>
              </a:pPr>
              <a:r>
                <a:rPr lang="en-US" sz="1494">
                  <a:solidFill>
                    <a:srgbClr val="F5F7F8"/>
                  </a:solidFill>
                  <a:latin typeface="Staatliches"/>
                  <a:ea typeface="Staatliches"/>
                  <a:cs typeface="Staatliches"/>
                  <a:sym typeface="Staatliches"/>
                </a:rPr>
                <a:t>Fortalecimiento: MFA, Backups y Validaciones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724759" y="1382882"/>
            <a:ext cx="4534541" cy="1149973"/>
            <a:chOff x="0" y="0"/>
            <a:chExt cx="6046055" cy="1533297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6046055" cy="1533297"/>
              <a:chOff x="0" y="0"/>
              <a:chExt cx="898256" cy="227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98256" cy="227800"/>
              </a:xfrm>
              <a:custGeom>
                <a:avLst/>
                <a:gdLst/>
                <a:ahLst/>
                <a:cxnLst/>
                <a:rect r="r" b="b" t="t" l="l"/>
                <a:pathLst>
                  <a:path h="227800" w="898256">
                    <a:moveTo>
                      <a:pt x="0" y="0"/>
                    </a:moveTo>
                    <a:lnTo>
                      <a:pt x="898256" y="0"/>
                    </a:lnTo>
                    <a:lnTo>
                      <a:pt x="898256" y="227800"/>
                    </a:lnTo>
                    <a:lnTo>
                      <a:pt x="0" y="227800"/>
                    </a:lnTo>
                    <a:close/>
                  </a:path>
                </a:pathLst>
              </a:custGeom>
              <a:solidFill>
                <a:srgbClr val="96B7C8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28575"/>
                <a:ext cx="898256" cy="2563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1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545181" y="426054"/>
              <a:ext cx="4955693" cy="9386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925"/>
                </a:lnSpc>
              </a:pPr>
              <a:r>
                <a:rPr lang="en-US" sz="4232">
                  <a:solidFill>
                    <a:srgbClr val="F5F7F8"/>
                  </a:solidFill>
                  <a:latin typeface="Staatliches"/>
                  <a:ea typeface="Staatliches"/>
                  <a:cs typeface="Staatliches"/>
                  <a:sym typeface="Staatliches"/>
                </a:rPr>
                <a:t>Fase 1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389577" y="154144"/>
              <a:ext cx="5266902" cy="3061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091"/>
                </a:lnSpc>
              </a:pPr>
              <a:r>
                <a:rPr lang="en-US" sz="1494">
                  <a:solidFill>
                    <a:srgbClr val="F5F7F8"/>
                  </a:solidFill>
                  <a:latin typeface="Staatliches"/>
                  <a:ea typeface="Staatliches"/>
                  <a:cs typeface="Staatliches"/>
                  <a:sym typeface="Staatliches"/>
                </a:rPr>
                <a:t>Correcciones, Personalización y Lanzamiento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997607" y="1028700"/>
            <a:ext cx="1927686" cy="572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14"/>
              </a:lnSpc>
            </a:pPr>
            <a:r>
              <a:rPr lang="en-US" b="true" sz="2226" spc="-122">
                <a:solidFill>
                  <a:srgbClr val="342D47"/>
                </a:solidFill>
                <a:latin typeface="Agrandir Bold"/>
                <a:ea typeface="Agrandir Bold"/>
                <a:cs typeface="Agrandir Bold"/>
                <a:sym typeface="Agrandir Bold"/>
              </a:rPr>
              <a:t>BIBLIOTECA ESCOLAR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881918" y="618775"/>
            <a:ext cx="987259" cy="982322"/>
          </a:xfrm>
          <a:custGeom>
            <a:avLst/>
            <a:gdLst/>
            <a:ahLst/>
            <a:cxnLst/>
            <a:rect r="r" b="b" t="t" l="l"/>
            <a:pathLst>
              <a:path h="982322" w="987259">
                <a:moveTo>
                  <a:pt x="0" y="0"/>
                </a:moveTo>
                <a:lnTo>
                  <a:pt x="987258" y="0"/>
                </a:lnTo>
                <a:lnTo>
                  <a:pt x="987258" y="982322"/>
                </a:lnTo>
                <a:lnTo>
                  <a:pt x="0" y="9823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062882"/>
            <a:ext cx="9478428" cy="3950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827"/>
              </a:lnSpc>
            </a:pPr>
            <a:r>
              <a:rPr lang="en-US" sz="17241" spc="-948">
                <a:solidFill>
                  <a:srgbClr val="342D47"/>
                </a:solidFill>
                <a:latin typeface="Staatliches"/>
                <a:ea typeface="Staatliches"/>
                <a:cs typeface="Staatliches"/>
                <a:sym typeface="Staatliches"/>
              </a:rPr>
              <a:t>LIMITACIONES ACTUALES</a:t>
            </a:r>
          </a:p>
        </p:txBody>
      </p:sp>
      <p:sp>
        <p:nvSpPr>
          <p:cNvPr name="AutoShape 4" id="4"/>
          <p:cNvSpPr/>
          <p:nvPr/>
        </p:nvSpPr>
        <p:spPr>
          <a:xfrm>
            <a:off x="0" y="7263298"/>
            <a:ext cx="18288000" cy="0"/>
          </a:xfrm>
          <a:prstGeom prst="line">
            <a:avLst/>
          </a:prstGeom>
          <a:ln cap="flat" w="38100">
            <a:solidFill>
              <a:srgbClr val="342D4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028700" y="7244248"/>
            <a:ext cx="4070174" cy="2142185"/>
            <a:chOff x="0" y="0"/>
            <a:chExt cx="5426899" cy="2856247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241300" y="460375"/>
              <a:ext cx="1850732" cy="9573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19"/>
                </a:lnSpc>
              </a:pPr>
              <a:r>
                <a:rPr lang="en-US" b="true" sz="2013">
                  <a:solidFill>
                    <a:srgbClr val="342D47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Configuración Inicial</a:t>
              </a:r>
            </a:p>
          </p:txBody>
        </p:sp>
        <p:sp>
          <p:nvSpPr>
            <p:cNvPr name="AutoShape 7" id="7"/>
            <p:cNvSpPr/>
            <p:nvPr/>
          </p:nvSpPr>
          <p:spPr>
            <a:xfrm>
              <a:off x="25400" y="0"/>
              <a:ext cx="0" cy="1001720"/>
            </a:xfrm>
            <a:prstGeom prst="line">
              <a:avLst/>
            </a:prstGeom>
            <a:ln cap="flat" w="50800">
              <a:solidFill>
                <a:srgbClr val="342D47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8" id="8"/>
            <p:cNvSpPr txBox="true"/>
            <p:nvPr/>
          </p:nvSpPr>
          <p:spPr>
            <a:xfrm rot="0">
              <a:off x="0" y="1731662"/>
              <a:ext cx="5426899" cy="11245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679"/>
                </a:lnSpc>
                <a:spcBef>
                  <a:spcPct val="0"/>
                </a:spcBef>
              </a:pPr>
              <a:r>
                <a:rPr lang="en-US" sz="1200">
                  <a:solidFill>
                    <a:srgbClr val="342D47"/>
                  </a:solidFill>
                  <a:latin typeface="Agrandir"/>
                  <a:ea typeface="Agrandir"/>
                  <a:cs typeface="Agrandir"/>
                  <a:sym typeface="Agrandir"/>
                </a:rPr>
                <a:t>Las credenciales por defecto deben cambiarse al momento del despliegue. Una configuración incorrecta representa un riesgo de seguridad institucional que debe atenderse de inmediato.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040615" y="7244248"/>
            <a:ext cx="4070174" cy="2142185"/>
            <a:chOff x="0" y="0"/>
            <a:chExt cx="5426899" cy="285624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241300" y="460375"/>
              <a:ext cx="1806482" cy="9573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19"/>
                </a:lnSpc>
              </a:pPr>
              <a:r>
                <a:rPr lang="en-US" b="true" sz="2013">
                  <a:solidFill>
                    <a:srgbClr val="342D47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Seguridad Base</a:t>
              </a:r>
            </a:p>
          </p:txBody>
        </p:sp>
        <p:sp>
          <p:nvSpPr>
            <p:cNvPr name="AutoShape 11" id="11"/>
            <p:cNvSpPr/>
            <p:nvPr/>
          </p:nvSpPr>
          <p:spPr>
            <a:xfrm>
              <a:off x="25400" y="0"/>
              <a:ext cx="0" cy="1001720"/>
            </a:xfrm>
            <a:prstGeom prst="line">
              <a:avLst/>
            </a:prstGeom>
            <a:ln cap="flat" w="50800">
              <a:solidFill>
                <a:srgbClr val="342D47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2" id="12"/>
            <p:cNvSpPr txBox="true"/>
            <p:nvPr/>
          </p:nvSpPr>
          <p:spPr>
            <a:xfrm rot="0">
              <a:off x="0" y="1731662"/>
              <a:ext cx="5426899" cy="11245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679"/>
                </a:lnSpc>
                <a:spcBef>
                  <a:spcPct val="0"/>
                </a:spcBef>
              </a:pPr>
              <a:r>
                <a:rPr lang="en-US" sz="1200">
                  <a:solidFill>
                    <a:srgbClr val="342D47"/>
                  </a:solidFill>
                  <a:latin typeface="Agrandir"/>
                  <a:ea typeface="Agrandir"/>
                  <a:cs typeface="Agrandir"/>
                  <a:sym typeface="Agrandir"/>
                </a:rPr>
                <a:t>La versión base no incluye recuperación de contraseña ni autenticación multifactor (MFA). Estas funcionalidades están contempladas en la Fase 2 del roadmap de desarrollo.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052530" y="7244248"/>
            <a:ext cx="4070174" cy="2142185"/>
            <a:chOff x="0" y="0"/>
            <a:chExt cx="5426899" cy="2856247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247016" y="460375"/>
              <a:ext cx="1806482" cy="9573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19"/>
                </a:lnSpc>
              </a:pPr>
              <a:r>
                <a:rPr lang="en-US" b="true" sz="2013">
                  <a:solidFill>
                    <a:srgbClr val="342D47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Alcance Digital</a:t>
              </a:r>
            </a:p>
          </p:txBody>
        </p:sp>
        <p:sp>
          <p:nvSpPr>
            <p:cNvPr name="AutoShape 15" id="15"/>
            <p:cNvSpPr/>
            <p:nvPr/>
          </p:nvSpPr>
          <p:spPr>
            <a:xfrm>
              <a:off x="25400" y="0"/>
              <a:ext cx="0" cy="1001720"/>
            </a:xfrm>
            <a:prstGeom prst="line">
              <a:avLst/>
            </a:prstGeom>
            <a:ln cap="flat" w="50800">
              <a:solidFill>
                <a:srgbClr val="342D47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6" id="16"/>
            <p:cNvSpPr txBox="true"/>
            <p:nvPr/>
          </p:nvSpPr>
          <p:spPr>
            <a:xfrm rot="0">
              <a:off x="0" y="1731662"/>
              <a:ext cx="5426899" cy="11245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679"/>
                </a:lnSpc>
                <a:spcBef>
                  <a:spcPct val="0"/>
                </a:spcBef>
              </a:pPr>
              <a:r>
                <a:rPr lang="en-US" sz="1200">
                  <a:solidFill>
                    <a:srgbClr val="342D47"/>
                  </a:solidFill>
                  <a:latin typeface="Agrandir"/>
                  <a:ea typeface="Agrandir"/>
                  <a:cs typeface="Agrandir"/>
                  <a:sym typeface="Agrandir"/>
                </a:rPr>
                <a:t>No cuenta con módulo de préstamos físicos ni integración LMS completa. La plataforma es un portal digital de recursos; no reemplaza sistemas de gestión de biblioteca física.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9452125" y="5105400"/>
            <a:ext cx="7807175" cy="804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23"/>
              </a:lnSpc>
            </a:pPr>
            <a:r>
              <a:rPr lang="en-US" sz="1839">
                <a:solidFill>
                  <a:srgbClr val="342D47"/>
                </a:solidFill>
                <a:latin typeface="Agrandir"/>
                <a:ea typeface="Agrandir"/>
                <a:cs typeface="Agrandir"/>
                <a:sym typeface="Agrandir"/>
              </a:rPr>
              <a:t>Conocer las limitaciones actuales de la plataforma permite una venta responsable y una implementación exitosa. Estas restricciones son gestionables y forman parte del roadmap de mejora continua.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997607" y="1028700"/>
            <a:ext cx="1927686" cy="572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14"/>
              </a:lnSpc>
            </a:pPr>
            <a:r>
              <a:rPr lang="en-US" b="true" sz="2226" spc="-122">
                <a:solidFill>
                  <a:srgbClr val="342D47"/>
                </a:solidFill>
                <a:latin typeface="Agrandir Bold"/>
                <a:ea typeface="Agrandir Bold"/>
                <a:cs typeface="Agrandir Bold"/>
                <a:sym typeface="Agrandir Bold"/>
              </a:rPr>
              <a:t>BIBLIOTECA ESCOLAR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881918" y="618775"/>
            <a:ext cx="987259" cy="982322"/>
          </a:xfrm>
          <a:custGeom>
            <a:avLst/>
            <a:gdLst/>
            <a:ahLst/>
            <a:cxnLst/>
            <a:rect r="r" b="b" t="t" l="l"/>
            <a:pathLst>
              <a:path h="982322" w="987259">
                <a:moveTo>
                  <a:pt x="0" y="0"/>
                </a:moveTo>
                <a:lnTo>
                  <a:pt x="987258" y="0"/>
                </a:lnTo>
                <a:lnTo>
                  <a:pt x="987258" y="982322"/>
                </a:lnTo>
                <a:lnTo>
                  <a:pt x="0" y="9823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239714" y="-375439"/>
            <a:ext cx="7517585" cy="7729320"/>
            <a:chOff x="0" y="0"/>
            <a:chExt cx="10023447" cy="10305760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0" t="69" r="0" b="69"/>
            <a:stretch>
              <a:fillRect/>
            </a:stretch>
          </p:blipFill>
          <p:spPr>
            <a:xfrm flipH="false" flipV="false">
              <a:off x="0" y="0"/>
              <a:ext cx="10023447" cy="10305760"/>
            </a:xfrm>
            <a:prstGeom prst="rect">
              <a:avLst/>
            </a:prstGeom>
          </p:spPr>
        </p:pic>
      </p:grpSp>
      <p:grpSp>
        <p:nvGrpSpPr>
          <p:cNvPr name="Group 5" id="5"/>
          <p:cNvGrpSpPr/>
          <p:nvPr/>
        </p:nvGrpSpPr>
        <p:grpSpPr>
          <a:xfrm rot="0">
            <a:off x="1028700" y="7802891"/>
            <a:ext cx="9305748" cy="1416705"/>
            <a:chOff x="0" y="0"/>
            <a:chExt cx="12407664" cy="188894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363992"/>
              <a:ext cx="3851860" cy="9163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806"/>
                </a:lnSpc>
              </a:pPr>
              <a:r>
                <a:rPr lang="en-US" sz="4147">
                  <a:solidFill>
                    <a:srgbClr val="342D47"/>
                  </a:solidFill>
                  <a:latin typeface="Staatliches"/>
                  <a:ea typeface="Staatliches"/>
                  <a:cs typeface="Staatliches"/>
                  <a:sym typeface="Staatliches"/>
                </a:rPr>
                <a:t>No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192468" y="1403093"/>
              <a:ext cx="3466924" cy="4858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753"/>
                </a:lnSpc>
              </a:pPr>
              <a:r>
                <a:rPr lang="en-US" sz="1966">
                  <a:solidFill>
                    <a:srgbClr val="342D47"/>
                  </a:solidFill>
                  <a:latin typeface="Agrandir"/>
                  <a:ea typeface="Agrandir"/>
                  <a:cs typeface="Agrandir"/>
                  <a:sym typeface="Agrandir"/>
                </a:rPr>
                <a:t>Solo personal admin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95250"/>
              <a:ext cx="3851860" cy="4858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753"/>
                </a:lnSpc>
              </a:pPr>
              <a:r>
                <a:rPr lang="en-US" sz="1966">
                  <a:solidFill>
                    <a:srgbClr val="342D47"/>
                  </a:solidFill>
                  <a:latin typeface="Agrandir"/>
                  <a:ea typeface="Agrandir"/>
                  <a:cs typeface="Agrandir"/>
                  <a:sym typeface="Agrandir"/>
                </a:rPr>
                <a:t>¿Cuenta de estudiante?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4405848" y="363992"/>
              <a:ext cx="3663061" cy="9163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806"/>
                </a:lnSpc>
              </a:pPr>
              <a:r>
                <a:rPr lang="en-US" sz="4147">
                  <a:solidFill>
                    <a:srgbClr val="342D47"/>
                  </a:solidFill>
                  <a:latin typeface="Staatliches"/>
                  <a:ea typeface="Staatliches"/>
                  <a:cs typeface="Staatliches"/>
                  <a:sym typeface="Staatliches"/>
                </a:rPr>
                <a:t>Sí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4463722" y="1403093"/>
              <a:ext cx="3547314" cy="4858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753"/>
                </a:lnSpc>
              </a:pPr>
              <a:r>
                <a:rPr lang="en-US" sz="1966">
                  <a:solidFill>
                    <a:srgbClr val="342D47"/>
                  </a:solidFill>
                  <a:latin typeface="Agrandir"/>
                  <a:ea typeface="Agrandir"/>
                  <a:cs typeface="Agrandir"/>
                  <a:sym typeface="Agrandir"/>
                </a:rPr>
                <a:t>Logo y colores propios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8613816" y="363992"/>
              <a:ext cx="3735837" cy="9163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806"/>
                </a:lnSpc>
              </a:pPr>
              <a:r>
                <a:rPr lang="en-US" sz="4147">
                  <a:solidFill>
                    <a:srgbClr val="342D47"/>
                  </a:solidFill>
                  <a:latin typeface="Staatliches"/>
                  <a:ea typeface="Staatliches"/>
                  <a:cs typeface="Staatliches"/>
                  <a:sym typeface="Staatliches"/>
                </a:rPr>
                <a:t>Sí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8784248" y="1403093"/>
              <a:ext cx="3394972" cy="4858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753"/>
                </a:lnSpc>
              </a:pPr>
              <a:r>
                <a:rPr lang="en-US" sz="1966">
                  <a:solidFill>
                    <a:srgbClr val="342D47"/>
                  </a:solidFill>
                  <a:latin typeface="Agrandir"/>
                  <a:ea typeface="Agrandir"/>
                  <a:cs typeface="Agrandir"/>
                  <a:sym typeface="Agrandir"/>
                </a:rPr>
                <a:t>Diseño responsivo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4311449" y="-95250"/>
              <a:ext cx="3851860" cy="4858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753"/>
                </a:lnSpc>
              </a:pPr>
              <a:r>
                <a:rPr lang="en-US" sz="1966">
                  <a:solidFill>
                    <a:srgbClr val="342D47"/>
                  </a:solidFill>
                  <a:latin typeface="Agrandir"/>
                  <a:ea typeface="Agrandir"/>
                  <a:cs typeface="Agrandir"/>
                  <a:sym typeface="Agrandir"/>
                </a:rPr>
                <a:t>¿Personalización visual?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8555804" y="-95250"/>
              <a:ext cx="3851860" cy="4858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753"/>
                </a:lnSpc>
              </a:pPr>
              <a:r>
                <a:rPr lang="en-US" sz="1966">
                  <a:solidFill>
                    <a:srgbClr val="342D47"/>
                  </a:solidFill>
                  <a:latin typeface="Agrandir"/>
                  <a:ea typeface="Agrandir"/>
                  <a:cs typeface="Agrandir"/>
                  <a:sym typeface="Agrandir"/>
                </a:rPr>
                <a:t>¿Funciona en móvil?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522950" y="7764791"/>
            <a:ext cx="6736350" cy="1396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2"/>
              </a:lnSpc>
            </a:pPr>
            <a:r>
              <a:rPr lang="en-US" sz="1965">
                <a:solidFill>
                  <a:srgbClr val="342D47"/>
                </a:solidFill>
                <a:latin typeface="Agrandir"/>
                <a:ea typeface="Agrandir"/>
                <a:cs typeface="Agrandir"/>
                <a:sym typeface="Agrandir"/>
              </a:rPr>
              <a:t>¿Reemplaza la biblioteca física? No, es un portal digital complementario. ¿Quién administra el contenido? Administradores y personal con rol rector. Los estudiantes acceden libremente sin necesidad de crear una cuenta.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2763964"/>
            <a:ext cx="9494250" cy="4446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50"/>
              </a:lnSpc>
            </a:pPr>
            <a:r>
              <a:rPr lang="en-US" sz="19477" spc="-1071">
                <a:solidFill>
                  <a:srgbClr val="342D47"/>
                </a:solidFill>
                <a:latin typeface="Staatliches"/>
                <a:ea typeface="Staatliches"/>
                <a:cs typeface="Staatliches"/>
                <a:sym typeface="Staatliches"/>
              </a:rPr>
              <a:t>PREGUNTAS</a:t>
            </a:r>
          </a:p>
          <a:p>
            <a:pPr algn="l" marL="0" indent="0" lvl="0">
              <a:lnSpc>
                <a:spcPts val="16750"/>
              </a:lnSpc>
            </a:pPr>
            <a:r>
              <a:rPr lang="en-US" sz="19477" spc="-1071">
                <a:solidFill>
                  <a:srgbClr val="342D47"/>
                </a:solidFill>
                <a:latin typeface="Staatliches"/>
                <a:ea typeface="Staatliches"/>
                <a:cs typeface="Staatliches"/>
                <a:sym typeface="Staatliches"/>
              </a:rPr>
              <a:t>FRECUENTES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997607" y="1028700"/>
            <a:ext cx="1927686" cy="572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14"/>
              </a:lnSpc>
            </a:pPr>
            <a:r>
              <a:rPr lang="en-US" b="true" sz="2226" spc="-122">
                <a:solidFill>
                  <a:srgbClr val="342D47"/>
                </a:solidFill>
                <a:latin typeface="Agrandir Bold"/>
                <a:ea typeface="Agrandir Bold"/>
                <a:cs typeface="Agrandir Bold"/>
                <a:sym typeface="Agrandir Bold"/>
              </a:rPr>
              <a:t>BIBLIOTECA ESCOLAR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881918" y="618775"/>
            <a:ext cx="987259" cy="982322"/>
          </a:xfrm>
          <a:custGeom>
            <a:avLst/>
            <a:gdLst/>
            <a:ahLst/>
            <a:cxnLst/>
            <a:rect r="r" b="b" t="t" l="l"/>
            <a:pathLst>
              <a:path h="982322" w="987259">
                <a:moveTo>
                  <a:pt x="0" y="0"/>
                </a:moveTo>
                <a:lnTo>
                  <a:pt x="987258" y="0"/>
                </a:lnTo>
                <a:lnTo>
                  <a:pt x="987258" y="982322"/>
                </a:lnTo>
                <a:lnTo>
                  <a:pt x="0" y="9823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329258" y="2190432"/>
            <a:ext cx="13629483" cy="417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726"/>
              </a:lnSpc>
            </a:pPr>
            <a:r>
              <a:rPr lang="en-US" sz="18287" spc="-1005">
                <a:solidFill>
                  <a:srgbClr val="96B7C8"/>
                </a:solidFill>
                <a:latin typeface="Staatliches"/>
                <a:ea typeface="Staatliches"/>
                <a:cs typeface="Staatliches"/>
                <a:sym typeface="Staatliches"/>
              </a:rPr>
              <a:t>¡COMIENCE</a:t>
            </a:r>
          </a:p>
          <a:p>
            <a:pPr algn="ctr" marL="0" indent="0" lvl="0">
              <a:lnSpc>
                <a:spcPts val="15726"/>
              </a:lnSpc>
            </a:pPr>
            <a:r>
              <a:rPr lang="en-US" sz="18287" spc="-1005">
                <a:solidFill>
                  <a:srgbClr val="96B7C8"/>
                </a:solidFill>
                <a:latin typeface="Staatliches"/>
                <a:ea typeface="Staatliches"/>
                <a:cs typeface="Staatliches"/>
                <a:sym typeface="Staatliches"/>
              </a:rPr>
              <a:t>HOY!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383386" y="6460265"/>
            <a:ext cx="11521228" cy="1474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501"/>
              </a:lnSpc>
            </a:pPr>
            <a:r>
              <a:rPr lang="en-US" sz="12210" spc="-671">
                <a:solidFill>
                  <a:srgbClr val="342D47"/>
                </a:solidFill>
                <a:latin typeface="Staatliches"/>
                <a:ea typeface="Staatliches"/>
                <a:cs typeface="Staatliches"/>
                <a:sym typeface="Staatliches"/>
              </a:rPr>
              <a:t>BIBLIOTECA ESCOLAR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193919" y="8879714"/>
            <a:ext cx="6538761" cy="377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76"/>
              </a:lnSpc>
            </a:pPr>
            <a:r>
              <a:rPr lang="en-US" sz="1251">
                <a:solidFill>
                  <a:srgbClr val="342D47"/>
                </a:solidFill>
                <a:latin typeface="Agrandir"/>
                <a:ea typeface="Agrandir"/>
                <a:cs typeface="Agrandir"/>
                <a:sym typeface="Agrandir"/>
              </a:rPr>
              <a:t>"ORDENE Y VISIBILICE SUS RECURSOS DIGITALES CON UNA SOLUCIÓN MODERNA, SEGURA Y ADAPTADA A SU COLEGIO."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664985" y="8879714"/>
            <a:ext cx="3594315" cy="206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377"/>
              </a:lnSpc>
            </a:pPr>
            <a:r>
              <a:rPr lang="en-US" sz="1252">
                <a:solidFill>
                  <a:srgbClr val="342D47"/>
                </a:solidFill>
                <a:latin typeface="Agrandir"/>
                <a:ea typeface="Agrandir"/>
                <a:cs typeface="Agrandir"/>
                <a:sym typeface="Agrandir"/>
              </a:rPr>
              <a:t>JULIANDAVIDGUARDIOLASUIARES@GMAIL.COM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64985" y="1009650"/>
            <a:ext cx="3594315" cy="206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376"/>
              </a:lnSpc>
            </a:pPr>
            <a:r>
              <a:rPr lang="en-US" sz="1251">
                <a:solidFill>
                  <a:srgbClr val="342D47"/>
                </a:solidFill>
                <a:latin typeface="Agrandir"/>
                <a:ea typeface="Agrandir"/>
                <a:cs typeface="Agrandir"/>
                <a:sym typeface="Agrandir"/>
              </a:rPr>
              <a:t>21 - 07 - 2026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97607" y="1028700"/>
            <a:ext cx="1927686" cy="572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14"/>
              </a:lnSpc>
            </a:pPr>
            <a:r>
              <a:rPr lang="en-US" b="true" sz="2226" spc="-122">
                <a:solidFill>
                  <a:srgbClr val="342D47"/>
                </a:solidFill>
                <a:latin typeface="Agrandir Bold"/>
                <a:ea typeface="Agrandir Bold"/>
                <a:cs typeface="Agrandir Bold"/>
                <a:sym typeface="Agrandir Bold"/>
              </a:rPr>
              <a:t>BIBLIOTECA ESCOLAR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881918" y="618775"/>
            <a:ext cx="987259" cy="982322"/>
          </a:xfrm>
          <a:custGeom>
            <a:avLst/>
            <a:gdLst/>
            <a:ahLst/>
            <a:cxnLst/>
            <a:rect r="r" b="b" t="t" l="l"/>
            <a:pathLst>
              <a:path h="982322" w="987259">
                <a:moveTo>
                  <a:pt x="0" y="0"/>
                </a:moveTo>
                <a:lnTo>
                  <a:pt x="987258" y="0"/>
                </a:lnTo>
                <a:lnTo>
                  <a:pt x="987258" y="982322"/>
                </a:lnTo>
                <a:lnTo>
                  <a:pt x="0" y="9823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DAHQCdv__ig</dc:identifier>
  <dcterms:modified xsi:type="dcterms:W3CDTF">2011-08-01T06:04:30Z</dcterms:modified>
  <cp:revision>1</cp:revision>
  <dc:title>Biblioteca Escolar RGB – Presentación de Ventas</dc:title>
</cp:coreProperties>
</file>